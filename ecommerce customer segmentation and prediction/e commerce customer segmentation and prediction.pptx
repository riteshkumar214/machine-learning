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theme/theme1.xml" ContentType="application/vnd.openxmlformats-officedocument.theme+xml"/>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Default Extension="png" ContentType="image/pn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4" r:id="rId5"/>
    <p:sldId id="265"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2" r:id="rId22"/>
    <p:sldId id="287" r:id="rId23"/>
    <p:sldId id="281" r:id="rId24"/>
    <p:sldId id="283" r:id="rId25"/>
    <p:sldId id="284" r:id="rId26"/>
    <p:sldId id="285" r:id="rId27"/>
    <p:sldId id="286" r:id="rId28"/>
    <p:sldId id="288" r:id="rId29"/>
    <p:sldId id="260" r:id="rId30"/>
    <p:sldId id="261" r:id="rId31"/>
    <p:sldId id="289" r:id="rId32"/>
    <p:sldId id="262" r:id="rId33"/>
    <p:sldId id="263"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987" autoAdjust="0"/>
    <p:restoredTop sz="94660"/>
  </p:normalViewPr>
  <p:slideViewPr>
    <p:cSldViewPr snapToGrid="0">
      <p:cViewPr>
        <p:scale>
          <a:sx n="66" d="100"/>
          <a:sy n="66" d="100"/>
        </p:scale>
        <p:origin x="-1286" y="-53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952D6C-9D1D-4467-A91E-DBF1A34FB43A}" type="doc">
      <dgm:prSet loTypeId="urn:microsoft.com/office/officeart/2005/8/layout/bProcess4" loCatId="process" qsTypeId="urn:microsoft.com/office/officeart/2005/8/quickstyle/simple1" qsCatId="simple" csTypeId="urn:microsoft.com/office/officeart/2005/8/colors/accent1_2" csCatId="accent1" phldr="1"/>
      <dgm:spPr/>
      <dgm:t>
        <a:bodyPr/>
        <a:lstStyle/>
        <a:p>
          <a:endParaRPr lang="en-US"/>
        </a:p>
      </dgm:t>
    </dgm:pt>
    <dgm:pt modelId="{2D373C59-0E79-4B9F-92FA-930FED8CD901}">
      <dgm:prSet phldrT="[Text]"/>
      <dgm:spPr/>
      <dgm:t>
        <a:bodyPr/>
        <a:lstStyle/>
        <a:p>
          <a:r>
            <a:rPr lang="en-US" b="1" dirty="0" smtClean="0"/>
            <a:t>Data Collection / Dataset</a:t>
          </a:r>
          <a:endParaRPr lang="en-US" dirty="0"/>
        </a:p>
      </dgm:t>
    </dgm:pt>
    <dgm:pt modelId="{018562A4-70F2-494A-8ADA-C4AB3D065859}" type="parTrans" cxnId="{B07E0A59-897F-4E7A-9F0C-2E62B8365C89}">
      <dgm:prSet/>
      <dgm:spPr/>
      <dgm:t>
        <a:bodyPr/>
        <a:lstStyle/>
        <a:p>
          <a:endParaRPr lang="en-US"/>
        </a:p>
      </dgm:t>
    </dgm:pt>
    <dgm:pt modelId="{7430EC3F-0840-4CAC-BBEE-9D06DE9CB17C}" type="sibTrans" cxnId="{B07E0A59-897F-4E7A-9F0C-2E62B8365C89}">
      <dgm:prSet/>
      <dgm:spPr/>
      <dgm:t>
        <a:bodyPr/>
        <a:lstStyle/>
        <a:p>
          <a:endParaRPr lang="en-US"/>
        </a:p>
      </dgm:t>
    </dgm:pt>
    <dgm:pt modelId="{195B02B8-1C8A-4010-A645-D6C358E4B4E3}">
      <dgm:prSet phldrT="[Text]"/>
      <dgm:spPr/>
      <dgm:t>
        <a:bodyPr/>
        <a:lstStyle/>
        <a:p>
          <a:r>
            <a:rPr lang="en-US" dirty="0" smtClean="0"/>
            <a:t>Data Preprocessing</a:t>
          </a:r>
          <a:endParaRPr lang="en-US" dirty="0"/>
        </a:p>
      </dgm:t>
    </dgm:pt>
    <dgm:pt modelId="{B86F36F2-B79D-44FF-A46B-E1136F7E1B65}" type="parTrans" cxnId="{614EF89D-500E-4EF7-A3E9-07B54CACDA00}">
      <dgm:prSet/>
      <dgm:spPr/>
      <dgm:t>
        <a:bodyPr/>
        <a:lstStyle/>
        <a:p>
          <a:endParaRPr lang="en-US"/>
        </a:p>
      </dgm:t>
    </dgm:pt>
    <dgm:pt modelId="{23E08ED7-0BDB-4FD6-80A0-F9B4D6428790}" type="sibTrans" cxnId="{614EF89D-500E-4EF7-A3E9-07B54CACDA00}">
      <dgm:prSet/>
      <dgm:spPr/>
      <dgm:t>
        <a:bodyPr/>
        <a:lstStyle/>
        <a:p>
          <a:endParaRPr lang="en-US"/>
        </a:p>
      </dgm:t>
    </dgm:pt>
    <dgm:pt modelId="{90C4C276-5FE6-4CA8-9FD0-102D600F793E}">
      <dgm:prSet phldrT="[Text]"/>
      <dgm:spPr/>
      <dgm:t>
        <a:bodyPr/>
        <a:lstStyle/>
        <a:p>
          <a:r>
            <a:rPr lang="en-US" dirty="0" smtClean="0"/>
            <a:t>Exploratory Data Analysis</a:t>
          </a:r>
          <a:endParaRPr lang="en-US" dirty="0"/>
        </a:p>
      </dgm:t>
    </dgm:pt>
    <dgm:pt modelId="{DC662188-366C-4A72-8452-DCC057A4FCF5}" type="parTrans" cxnId="{AAA18811-6191-4935-96C8-119016E6E958}">
      <dgm:prSet/>
      <dgm:spPr/>
      <dgm:t>
        <a:bodyPr/>
        <a:lstStyle/>
        <a:p>
          <a:endParaRPr lang="en-US"/>
        </a:p>
      </dgm:t>
    </dgm:pt>
    <dgm:pt modelId="{745BF6A3-57B1-47EC-AE31-F3ED1EB73BBD}" type="sibTrans" cxnId="{AAA18811-6191-4935-96C8-119016E6E958}">
      <dgm:prSet/>
      <dgm:spPr/>
      <dgm:t>
        <a:bodyPr/>
        <a:lstStyle/>
        <a:p>
          <a:endParaRPr lang="en-US"/>
        </a:p>
      </dgm:t>
    </dgm:pt>
    <dgm:pt modelId="{9F1968D0-47E6-46FC-99DD-504B419ACB31}">
      <dgm:prSet phldrT="[Text]"/>
      <dgm:spPr/>
      <dgm:t>
        <a:bodyPr/>
        <a:lstStyle/>
        <a:p>
          <a:r>
            <a:rPr lang="en-US" b="0" i="0" dirty="0" smtClean="0"/>
            <a:t>Feature Engineering</a:t>
          </a:r>
          <a:endParaRPr lang="en-US" dirty="0"/>
        </a:p>
      </dgm:t>
    </dgm:pt>
    <dgm:pt modelId="{74898250-6B69-4C07-AB60-7ED30D53F64A}" type="parTrans" cxnId="{62D438B9-96AB-470A-BF7E-EDA84E7046E7}">
      <dgm:prSet/>
      <dgm:spPr/>
      <dgm:t>
        <a:bodyPr/>
        <a:lstStyle/>
        <a:p>
          <a:endParaRPr lang="en-US"/>
        </a:p>
      </dgm:t>
    </dgm:pt>
    <dgm:pt modelId="{871409EF-3A99-48B8-89F2-F3FEF3F7B36D}" type="sibTrans" cxnId="{62D438B9-96AB-470A-BF7E-EDA84E7046E7}">
      <dgm:prSet/>
      <dgm:spPr/>
      <dgm:t>
        <a:bodyPr/>
        <a:lstStyle/>
        <a:p>
          <a:endParaRPr lang="en-US"/>
        </a:p>
      </dgm:t>
    </dgm:pt>
    <dgm:pt modelId="{8D6169F3-9F96-4138-B658-79B51A45E141}">
      <dgm:prSet phldrT="[Text]"/>
      <dgm:spPr/>
      <dgm:t>
        <a:bodyPr/>
        <a:lstStyle/>
        <a:p>
          <a:r>
            <a:rPr lang="en-US" b="1" dirty="0" smtClean="0"/>
            <a:t>Clustering Methods</a:t>
          </a:r>
          <a:endParaRPr lang="en-US" dirty="0"/>
        </a:p>
      </dgm:t>
    </dgm:pt>
    <dgm:pt modelId="{582CE6EB-C4DC-4A15-A65C-EC273F809253}" type="parTrans" cxnId="{BEF7C3C0-FFFE-46D0-8BCE-443AF05DF63B}">
      <dgm:prSet/>
      <dgm:spPr/>
      <dgm:t>
        <a:bodyPr/>
        <a:lstStyle/>
        <a:p>
          <a:endParaRPr lang="en-US"/>
        </a:p>
      </dgm:t>
    </dgm:pt>
    <dgm:pt modelId="{91E11373-D317-43B4-99E3-DFDAB87DE8DB}" type="sibTrans" cxnId="{BEF7C3C0-FFFE-46D0-8BCE-443AF05DF63B}">
      <dgm:prSet/>
      <dgm:spPr/>
      <dgm:t>
        <a:bodyPr/>
        <a:lstStyle/>
        <a:p>
          <a:endParaRPr lang="en-US"/>
        </a:p>
      </dgm:t>
    </dgm:pt>
    <dgm:pt modelId="{04F8B71A-BCAF-4E19-BBC2-E68DA65ABD8E}">
      <dgm:prSet phldrT="[Text]"/>
      <dgm:spPr/>
      <dgm:t>
        <a:bodyPr/>
        <a:lstStyle/>
        <a:p>
          <a:r>
            <a:rPr lang="en-US" dirty="0" smtClean="0"/>
            <a:t>Cluster Interpretation &amp; Segmentation</a:t>
          </a:r>
          <a:endParaRPr lang="en-US" dirty="0"/>
        </a:p>
      </dgm:t>
    </dgm:pt>
    <dgm:pt modelId="{C7EFF411-952E-4BC0-9D69-0EC411EA3038}" type="parTrans" cxnId="{286A137E-9E5C-4D36-8637-897E88A31DE2}">
      <dgm:prSet/>
      <dgm:spPr/>
      <dgm:t>
        <a:bodyPr/>
        <a:lstStyle/>
        <a:p>
          <a:endParaRPr lang="en-US"/>
        </a:p>
      </dgm:t>
    </dgm:pt>
    <dgm:pt modelId="{F5E69894-138D-4438-B0DF-6891592E6813}" type="sibTrans" cxnId="{286A137E-9E5C-4D36-8637-897E88A31DE2}">
      <dgm:prSet/>
      <dgm:spPr/>
      <dgm:t>
        <a:bodyPr/>
        <a:lstStyle/>
        <a:p>
          <a:endParaRPr lang="en-US"/>
        </a:p>
      </dgm:t>
    </dgm:pt>
    <dgm:pt modelId="{28FAF6B0-6EA5-408C-97B3-ACAE74AC173A}">
      <dgm:prSet phldrT="[Text]"/>
      <dgm:spPr/>
      <dgm:t>
        <a:bodyPr/>
        <a:lstStyle/>
        <a:p>
          <a:r>
            <a:rPr lang="en-US" dirty="0" smtClean="0"/>
            <a:t>Split Train  And Test Data</a:t>
          </a:r>
          <a:endParaRPr lang="en-US" dirty="0"/>
        </a:p>
      </dgm:t>
    </dgm:pt>
    <dgm:pt modelId="{957C2FE6-9CC8-4E01-9D8D-F407E47D9669}" type="parTrans" cxnId="{08A43563-302C-4F95-8E95-7B6936E4EEE0}">
      <dgm:prSet/>
      <dgm:spPr/>
      <dgm:t>
        <a:bodyPr/>
        <a:lstStyle/>
        <a:p>
          <a:endParaRPr lang="en-US"/>
        </a:p>
      </dgm:t>
    </dgm:pt>
    <dgm:pt modelId="{43A820FC-F047-446D-A632-6050608A00D8}" type="sibTrans" cxnId="{08A43563-302C-4F95-8E95-7B6936E4EEE0}">
      <dgm:prSet/>
      <dgm:spPr/>
      <dgm:t>
        <a:bodyPr/>
        <a:lstStyle/>
        <a:p>
          <a:endParaRPr lang="en-US"/>
        </a:p>
      </dgm:t>
    </dgm:pt>
    <dgm:pt modelId="{F40A2606-C9A9-4787-A6DF-33D61D5E8EF1}">
      <dgm:prSet phldrT="[Text]"/>
      <dgm:spPr/>
      <dgm:t>
        <a:bodyPr/>
        <a:lstStyle/>
        <a:p>
          <a:r>
            <a:rPr lang="en-US" dirty="0" smtClean="0"/>
            <a:t>Model Selection and </a:t>
          </a:r>
        </a:p>
        <a:p>
          <a:r>
            <a:rPr lang="en-US" dirty="0" smtClean="0"/>
            <a:t>Model Training</a:t>
          </a:r>
          <a:endParaRPr lang="en-US" dirty="0"/>
        </a:p>
      </dgm:t>
    </dgm:pt>
    <dgm:pt modelId="{22243B99-66C9-49C4-8180-DC7586FE13D2}" type="parTrans" cxnId="{E0F2557B-05A8-4FEC-9DEF-BF82E6FCD4A6}">
      <dgm:prSet/>
      <dgm:spPr/>
      <dgm:t>
        <a:bodyPr/>
        <a:lstStyle/>
        <a:p>
          <a:endParaRPr lang="en-US"/>
        </a:p>
      </dgm:t>
    </dgm:pt>
    <dgm:pt modelId="{99C7CFA0-36E4-45A8-898E-16043DF35652}" type="sibTrans" cxnId="{E0F2557B-05A8-4FEC-9DEF-BF82E6FCD4A6}">
      <dgm:prSet/>
      <dgm:spPr/>
      <dgm:t>
        <a:bodyPr/>
        <a:lstStyle/>
        <a:p>
          <a:endParaRPr lang="en-US"/>
        </a:p>
      </dgm:t>
    </dgm:pt>
    <dgm:pt modelId="{84515C0F-606F-4F3E-978F-8E03CF513E69}">
      <dgm:prSet phldrT="[Text]"/>
      <dgm:spPr/>
      <dgm:t>
        <a:bodyPr/>
        <a:lstStyle/>
        <a:p>
          <a:r>
            <a:rPr lang="en-US" dirty="0" smtClean="0"/>
            <a:t>Deployment</a:t>
          </a:r>
          <a:endParaRPr lang="en-US" dirty="0"/>
        </a:p>
      </dgm:t>
    </dgm:pt>
    <dgm:pt modelId="{B195A0D1-85A0-4722-AE84-B6A79F8D3BED}" type="parTrans" cxnId="{9795AC57-57A2-411D-9A3D-C83ED6C50ED3}">
      <dgm:prSet/>
      <dgm:spPr/>
      <dgm:t>
        <a:bodyPr/>
        <a:lstStyle/>
        <a:p>
          <a:endParaRPr lang="en-US"/>
        </a:p>
      </dgm:t>
    </dgm:pt>
    <dgm:pt modelId="{5DA335AB-554B-4A86-BD00-243DB3ECC02F}" type="sibTrans" cxnId="{9795AC57-57A2-411D-9A3D-C83ED6C50ED3}">
      <dgm:prSet/>
      <dgm:spPr/>
      <dgm:t>
        <a:bodyPr/>
        <a:lstStyle/>
        <a:p>
          <a:endParaRPr lang="en-US"/>
        </a:p>
      </dgm:t>
    </dgm:pt>
    <dgm:pt modelId="{05FED261-F9AB-416C-B479-BCE21AF31AE3}" type="pres">
      <dgm:prSet presAssocID="{5F952D6C-9D1D-4467-A91E-DBF1A34FB43A}" presName="Name0" presStyleCnt="0">
        <dgm:presLayoutVars>
          <dgm:dir/>
          <dgm:resizeHandles/>
        </dgm:presLayoutVars>
      </dgm:prSet>
      <dgm:spPr/>
      <dgm:t>
        <a:bodyPr/>
        <a:lstStyle/>
        <a:p>
          <a:endParaRPr lang="en-US"/>
        </a:p>
      </dgm:t>
    </dgm:pt>
    <dgm:pt modelId="{E6AD1524-5577-4012-B26D-C9F0E1CB8BFB}" type="pres">
      <dgm:prSet presAssocID="{2D373C59-0E79-4B9F-92FA-930FED8CD901}" presName="compNode" presStyleCnt="0"/>
      <dgm:spPr/>
    </dgm:pt>
    <dgm:pt modelId="{49C2C8FF-B3C7-4612-8335-AB245A205F57}" type="pres">
      <dgm:prSet presAssocID="{2D373C59-0E79-4B9F-92FA-930FED8CD901}" presName="dummyConnPt" presStyleCnt="0"/>
      <dgm:spPr/>
    </dgm:pt>
    <dgm:pt modelId="{253B9801-0708-4E3A-9DF2-36EFD64F0092}" type="pres">
      <dgm:prSet presAssocID="{2D373C59-0E79-4B9F-92FA-930FED8CD901}" presName="node" presStyleLbl="node1" presStyleIdx="0" presStyleCnt="9">
        <dgm:presLayoutVars>
          <dgm:bulletEnabled val="1"/>
        </dgm:presLayoutVars>
      </dgm:prSet>
      <dgm:spPr/>
      <dgm:t>
        <a:bodyPr/>
        <a:lstStyle/>
        <a:p>
          <a:endParaRPr lang="en-US"/>
        </a:p>
      </dgm:t>
    </dgm:pt>
    <dgm:pt modelId="{AE0574FA-E297-47EA-968B-E856AE967867}" type="pres">
      <dgm:prSet presAssocID="{7430EC3F-0840-4CAC-BBEE-9D06DE9CB17C}" presName="sibTrans" presStyleLbl="bgSibTrans2D1" presStyleIdx="0" presStyleCnt="8"/>
      <dgm:spPr/>
      <dgm:t>
        <a:bodyPr/>
        <a:lstStyle/>
        <a:p>
          <a:endParaRPr lang="en-US"/>
        </a:p>
      </dgm:t>
    </dgm:pt>
    <dgm:pt modelId="{04A4D365-393D-4971-8D78-99541488F8B5}" type="pres">
      <dgm:prSet presAssocID="{195B02B8-1C8A-4010-A645-D6C358E4B4E3}" presName="compNode" presStyleCnt="0"/>
      <dgm:spPr/>
    </dgm:pt>
    <dgm:pt modelId="{9D0B2B0C-6662-46CF-A619-695766EB1B4B}" type="pres">
      <dgm:prSet presAssocID="{195B02B8-1C8A-4010-A645-D6C358E4B4E3}" presName="dummyConnPt" presStyleCnt="0"/>
      <dgm:spPr/>
    </dgm:pt>
    <dgm:pt modelId="{8F9933D6-01A6-42EE-B1F8-44706876EC8F}" type="pres">
      <dgm:prSet presAssocID="{195B02B8-1C8A-4010-A645-D6C358E4B4E3}" presName="node" presStyleLbl="node1" presStyleIdx="1" presStyleCnt="9">
        <dgm:presLayoutVars>
          <dgm:bulletEnabled val="1"/>
        </dgm:presLayoutVars>
      </dgm:prSet>
      <dgm:spPr/>
      <dgm:t>
        <a:bodyPr/>
        <a:lstStyle/>
        <a:p>
          <a:endParaRPr lang="en-US"/>
        </a:p>
      </dgm:t>
    </dgm:pt>
    <dgm:pt modelId="{DF31CD5B-A64E-48EA-B313-38963E17FD12}" type="pres">
      <dgm:prSet presAssocID="{23E08ED7-0BDB-4FD6-80A0-F9B4D6428790}" presName="sibTrans" presStyleLbl="bgSibTrans2D1" presStyleIdx="1" presStyleCnt="8"/>
      <dgm:spPr/>
      <dgm:t>
        <a:bodyPr/>
        <a:lstStyle/>
        <a:p>
          <a:endParaRPr lang="en-US"/>
        </a:p>
      </dgm:t>
    </dgm:pt>
    <dgm:pt modelId="{57D794AC-1894-477C-BCB9-37CE504BD775}" type="pres">
      <dgm:prSet presAssocID="{90C4C276-5FE6-4CA8-9FD0-102D600F793E}" presName="compNode" presStyleCnt="0"/>
      <dgm:spPr/>
    </dgm:pt>
    <dgm:pt modelId="{01EC7319-E70D-442D-86BB-F0BD73D94352}" type="pres">
      <dgm:prSet presAssocID="{90C4C276-5FE6-4CA8-9FD0-102D600F793E}" presName="dummyConnPt" presStyleCnt="0"/>
      <dgm:spPr/>
    </dgm:pt>
    <dgm:pt modelId="{81B4CBF3-2FDB-476D-9504-0FA9DE362C62}" type="pres">
      <dgm:prSet presAssocID="{90C4C276-5FE6-4CA8-9FD0-102D600F793E}" presName="node" presStyleLbl="node1" presStyleIdx="2" presStyleCnt="9">
        <dgm:presLayoutVars>
          <dgm:bulletEnabled val="1"/>
        </dgm:presLayoutVars>
      </dgm:prSet>
      <dgm:spPr/>
      <dgm:t>
        <a:bodyPr/>
        <a:lstStyle/>
        <a:p>
          <a:endParaRPr lang="en-US"/>
        </a:p>
      </dgm:t>
    </dgm:pt>
    <dgm:pt modelId="{13EBE84C-54DC-4982-8FE0-5EB684C32145}" type="pres">
      <dgm:prSet presAssocID="{745BF6A3-57B1-47EC-AE31-F3ED1EB73BBD}" presName="sibTrans" presStyleLbl="bgSibTrans2D1" presStyleIdx="2" presStyleCnt="8"/>
      <dgm:spPr/>
      <dgm:t>
        <a:bodyPr/>
        <a:lstStyle/>
        <a:p>
          <a:endParaRPr lang="en-US"/>
        </a:p>
      </dgm:t>
    </dgm:pt>
    <dgm:pt modelId="{C8034257-D903-44A0-93A4-4C7DB84E7590}" type="pres">
      <dgm:prSet presAssocID="{9F1968D0-47E6-46FC-99DD-504B419ACB31}" presName="compNode" presStyleCnt="0"/>
      <dgm:spPr/>
    </dgm:pt>
    <dgm:pt modelId="{FC9792D1-E848-4858-AD9B-7FE84033DD05}" type="pres">
      <dgm:prSet presAssocID="{9F1968D0-47E6-46FC-99DD-504B419ACB31}" presName="dummyConnPt" presStyleCnt="0"/>
      <dgm:spPr/>
    </dgm:pt>
    <dgm:pt modelId="{40C8CCDB-8CCC-4C3D-BF96-E1D2A228EEDA}" type="pres">
      <dgm:prSet presAssocID="{9F1968D0-47E6-46FC-99DD-504B419ACB31}" presName="node" presStyleLbl="node1" presStyleIdx="3" presStyleCnt="9">
        <dgm:presLayoutVars>
          <dgm:bulletEnabled val="1"/>
        </dgm:presLayoutVars>
      </dgm:prSet>
      <dgm:spPr/>
      <dgm:t>
        <a:bodyPr/>
        <a:lstStyle/>
        <a:p>
          <a:endParaRPr lang="en-US"/>
        </a:p>
      </dgm:t>
    </dgm:pt>
    <dgm:pt modelId="{3DDCFBF9-9DDF-4B60-AA43-21ACA0632C14}" type="pres">
      <dgm:prSet presAssocID="{871409EF-3A99-48B8-89F2-F3FEF3F7B36D}" presName="sibTrans" presStyleLbl="bgSibTrans2D1" presStyleIdx="3" presStyleCnt="8"/>
      <dgm:spPr/>
      <dgm:t>
        <a:bodyPr/>
        <a:lstStyle/>
        <a:p>
          <a:endParaRPr lang="en-US"/>
        </a:p>
      </dgm:t>
    </dgm:pt>
    <dgm:pt modelId="{450960CC-A233-4FB0-AE8B-D542918A6FF1}" type="pres">
      <dgm:prSet presAssocID="{8D6169F3-9F96-4138-B658-79B51A45E141}" presName="compNode" presStyleCnt="0"/>
      <dgm:spPr/>
    </dgm:pt>
    <dgm:pt modelId="{55931974-26EE-45F9-82DC-D15F2B092FCA}" type="pres">
      <dgm:prSet presAssocID="{8D6169F3-9F96-4138-B658-79B51A45E141}" presName="dummyConnPt" presStyleCnt="0"/>
      <dgm:spPr/>
    </dgm:pt>
    <dgm:pt modelId="{5308D0A3-EE8B-4D11-A19C-8598A94F76F0}" type="pres">
      <dgm:prSet presAssocID="{8D6169F3-9F96-4138-B658-79B51A45E141}" presName="node" presStyleLbl="node1" presStyleIdx="4" presStyleCnt="9">
        <dgm:presLayoutVars>
          <dgm:bulletEnabled val="1"/>
        </dgm:presLayoutVars>
      </dgm:prSet>
      <dgm:spPr/>
      <dgm:t>
        <a:bodyPr/>
        <a:lstStyle/>
        <a:p>
          <a:endParaRPr lang="en-US"/>
        </a:p>
      </dgm:t>
    </dgm:pt>
    <dgm:pt modelId="{2A3B95A9-B939-48AD-82D2-966AF47B308F}" type="pres">
      <dgm:prSet presAssocID="{91E11373-D317-43B4-99E3-DFDAB87DE8DB}" presName="sibTrans" presStyleLbl="bgSibTrans2D1" presStyleIdx="4" presStyleCnt="8"/>
      <dgm:spPr/>
      <dgm:t>
        <a:bodyPr/>
        <a:lstStyle/>
        <a:p>
          <a:endParaRPr lang="en-US"/>
        </a:p>
      </dgm:t>
    </dgm:pt>
    <dgm:pt modelId="{C222C22F-DEFE-4C77-872C-044256AAB1D5}" type="pres">
      <dgm:prSet presAssocID="{04F8B71A-BCAF-4E19-BBC2-E68DA65ABD8E}" presName="compNode" presStyleCnt="0"/>
      <dgm:spPr/>
    </dgm:pt>
    <dgm:pt modelId="{38B710D6-111D-40BB-9670-4F3CB7BD7EA7}" type="pres">
      <dgm:prSet presAssocID="{04F8B71A-BCAF-4E19-BBC2-E68DA65ABD8E}" presName="dummyConnPt" presStyleCnt="0"/>
      <dgm:spPr/>
    </dgm:pt>
    <dgm:pt modelId="{B9066675-8B95-4A0A-990C-535CC0DD9861}" type="pres">
      <dgm:prSet presAssocID="{04F8B71A-BCAF-4E19-BBC2-E68DA65ABD8E}" presName="node" presStyleLbl="node1" presStyleIdx="5" presStyleCnt="9" custLinFactNeighborX="-339" custLinFactNeighborY="5658">
        <dgm:presLayoutVars>
          <dgm:bulletEnabled val="1"/>
        </dgm:presLayoutVars>
      </dgm:prSet>
      <dgm:spPr/>
      <dgm:t>
        <a:bodyPr/>
        <a:lstStyle/>
        <a:p>
          <a:endParaRPr lang="en-US"/>
        </a:p>
      </dgm:t>
    </dgm:pt>
    <dgm:pt modelId="{DDF33CA0-AA19-43A4-8762-7F24B0E4CED9}" type="pres">
      <dgm:prSet presAssocID="{F5E69894-138D-4438-B0DF-6891592E6813}" presName="sibTrans" presStyleLbl="bgSibTrans2D1" presStyleIdx="5" presStyleCnt="8"/>
      <dgm:spPr/>
      <dgm:t>
        <a:bodyPr/>
        <a:lstStyle/>
        <a:p>
          <a:endParaRPr lang="en-US"/>
        </a:p>
      </dgm:t>
    </dgm:pt>
    <dgm:pt modelId="{47A5CE24-0B96-447B-B98D-2E324BF322AB}" type="pres">
      <dgm:prSet presAssocID="{28FAF6B0-6EA5-408C-97B3-ACAE74AC173A}" presName="compNode" presStyleCnt="0"/>
      <dgm:spPr/>
    </dgm:pt>
    <dgm:pt modelId="{F5B3C511-0F15-4766-B4DD-AF7C17469D7D}" type="pres">
      <dgm:prSet presAssocID="{28FAF6B0-6EA5-408C-97B3-ACAE74AC173A}" presName="dummyConnPt" presStyleCnt="0"/>
      <dgm:spPr/>
    </dgm:pt>
    <dgm:pt modelId="{D89278DD-0AFC-4480-8AB8-6B5A87F563B2}" type="pres">
      <dgm:prSet presAssocID="{28FAF6B0-6EA5-408C-97B3-ACAE74AC173A}" presName="node" presStyleLbl="node1" presStyleIdx="6" presStyleCnt="9">
        <dgm:presLayoutVars>
          <dgm:bulletEnabled val="1"/>
        </dgm:presLayoutVars>
      </dgm:prSet>
      <dgm:spPr/>
      <dgm:t>
        <a:bodyPr/>
        <a:lstStyle/>
        <a:p>
          <a:endParaRPr lang="en-US"/>
        </a:p>
      </dgm:t>
    </dgm:pt>
    <dgm:pt modelId="{A07BB3E3-285C-4766-AAFF-2898A2E65C0A}" type="pres">
      <dgm:prSet presAssocID="{43A820FC-F047-446D-A632-6050608A00D8}" presName="sibTrans" presStyleLbl="bgSibTrans2D1" presStyleIdx="6" presStyleCnt="8"/>
      <dgm:spPr/>
      <dgm:t>
        <a:bodyPr/>
        <a:lstStyle/>
        <a:p>
          <a:endParaRPr lang="en-US"/>
        </a:p>
      </dgm:t>
    </dgm:pt>
    <dgm:pt modelId="{CE81DF42-16F1-481D-9814-370BCCCBC7CF}" type="pres">
      <dgm:prSet presAssocID="{F40A2606-C9A9-4787-A6DF-33D61D5E8EF1}" presName="compNode" presStyleCnt="0"/>
      <dgm:spPr/>
    </dgm:pt>
    <dgm:pt modelId="{8DFAF545-41E4-426B-83E9-1FEE3AB8776E}" type="pres">
      <dgm:prSet presAssocID="{F40A2606-C9A9-4787-A6DF-33D61D5E8EF1}" presName="dummyConnPt" presStyleCnt="0"/>
      <dgm:spPr/>
    </dgm:pt>
    <dgm:pt modelId="{85FAFF98-2232-4126-A0C3-84E1589D0099}" type="pres">
      <dgm:prSet presAssocID="{F40A2606-C9A9-4787-A6DF-33D61D5E8EF1}" presName="node" presStyleLbl="node1" presStyleIdx="7" presStyleCnt="9" custLinFactNeighborX="-4359" custLinFactNeighborY="-3963">
        <dgm:presLayoutVars>
          <dgm:bulletEnabled val="1"/>
        </dgm:presLayoutVars>
      </dgm:prSet>
      <dgm:spPr/>
      <dgm:t>
        <a:bodyPr/>
        <a:lstStyle/>
        <a:p>
          <a:endParaRPr lang="en-US"/>
        </a:p>
      </dgm:t>
    </dgm:pt>
    <dgm:pt modelId="{EE14EACB-A908-49E9-B07B-4A31A375ABF2}" type="pres">
      <dgm:prSet presAssocID="{99C7CFA0-36E4-45A8-898E-16043DF35652}" presName="sibTrans" presStyleLbl="bgSibTrans2D1" presStyleIdx="7" presStyleCnt="8"/>
      <dgm:spPr/>
      <dgm:t>
        <a:bodyPr/>
        <a:lstStyle/>
        <a:p>
          <a:endParaRPr lang="en-US"/>
        </a:p>
      </dgm:t>
    </dgm:pt>
    <dgm:pt modelId="{30B02167-5D79-4475-B0C1-32FCC8918480}" type="pres">
      <dgm:prSet presAssocID="{84515C0F-606F-4F3E-978F-8E03CF513E69}" presName="compNode" presStyleCnt="0"/>
      <dgm:spPr/>
    </dgm:pt>
    <dgm:pt modelId="{752F960B-3591-4669-8EA0-63FE2029E4FD}" type="pres">
      <dgm:prSet presAssocID="{84515C0F-606F-4F3E-978F-8E03CF513E69}" presName="dummyConnPt" presStyleCnt="0"/>
      <dgm:spPr/>
    </dgm:pt>
    <dgm:pt modelId="{DC843CD1-F108-4084-A0EC-13B5674D7A23}" type="pres">
      <dgm:prSet presAssocID="{84515C0F-606F-4F3E-978F-8E03CF513E69}" presName="node" presStyleLbl="node1" presStyleIdx="8" presStyleCnt="9">
        <dgm:presLayoutVars>
          <dgm:bulletEnabled val="1"/>
        </dgm:presLayoutVars>
      </dgm:prSet>
      <dgm:spPr/>
      <dgm:t>
        <a:bodyPr/>
        <a:lstStyle/>
        <a:p>
          <a:endParaRPr lang="en-US"/>
        </a:p>
      </dgm:t>
    </dgm:pt>
  </dgm:ptLst>
  <dgm:cxnLst>
    <dgm:cxn modelId="{08A43563-302C-4F95-8E95-7B6936E4EEE0}" srcId="{5F952D6C-9D1D-4467-A91E-DBF1A34FB43A}" destId="{28FAF6B0-6EA5-408C-97B3-ACAE74AC173A}" srcOrd="6" destOrd="0" parTransId="{957C2FE6-9CC8-4E01-9D8D-F407E47D9669}" sibTransId="{43A820FC-F047-446D-A632-6050608A00D8}"/>
    <dgm:cxn modelId="{B07E0A59-897F-4E7A-9F0C-2E62B8365C89}" srcId="{5F952D6C-9D1D-4467-A91E-DBF1A34FB43A}" destId="{2D373C59-0E79-4B9F-92FA-930FED8CD901}" srcOrd="0" destOrd="0" parTransId="{018562A4-70F2-494A-8ADA-C4AB3D065859}" sibTransId="{7430EC3F-0840-4CAC-BBEE-9D06DE9CB17C}"/>
    <dgm:cxn modelId="{AFFD57A7-F1A7-4EEF-B859-DE47DDC03CC8}" type="presOf" srcId="{F40A2606-C9A9-4787-A6DF-33D61D5E8EF1}" destId="{85FAFF98-2232-4126-A0C3-84E1589D0099}" srcOrd="0" destOrd="0" presId="urn:microsoft.com/office/officeart/2005/8/layout/bProcess4"/>
    <dgm:cxn modelId="{202F832A-FE76-4903-940D-2B539AB95BDF}" type="presOf" srcId="{23E08ED7-0BDB-4FD6-80A0-F9B4D6428790}" destId="{DF31CD5B-A64E-48EA-B313-38963E17FD12}" srcOrd="0" destOrd="0" presId="urn:microsoft.com/office/officeart/2005/8/layout/bProcess4"/>
    <dgm:cxn modelId="{E0F2557B-05A8-4FEC-9DEF-BF82E6FCD4A6}" srcId="{5F952D6C-9D1D-4467-A91E-DBF1A34FB43A}" destId="{F40A2606-C9A9-4787-A6DF-33D61D5E8EF1}" srcOrd="7" destOrd="0" parTransId="{22243B99-66C9-49C4-8180-DC7586FE13D2}" sibTransId="{99C7CFA0-36E4-45A8-898E-16043DF35652}"/>
    <dgm:cxn modelId="{99083236-0603-46DD-B1C2-A2906FB10EE4}" type="presOf" srcId="{F5E69894-138D-4438-B0DF-6891592E6813}" destId="{DDF33CA0-AA19-43A4-8762-7F24B0E4CED9}" srcOrd="0" destOrd="0" presId="urn:microsoft.com/office/officeart/2005/8/layout/bProcess4"/>
    <dgm:cxn modelId="{2480922A-E6B4-42F9-B861-550B41CEA78F}" type="presOf" srcId="{43A820FC-F047-446D-A632-6050608A00D8}" destId="{A07BB3E3-285C-4766-AAFF-2898A2E65C0A}" srcOrd="0" destOrd="0" presId="urn:microsoft.com/office/officeart/2005/8/layout/bProcess4"/>
    <dgm:cxn modelId="{62D438B9-96AB-470A-BF7E-EDA84E7046E7}" srcId="{5F952D6C-9D1D-4467-A91E-DBF1A34FB43A}" destId="{9F1968D0-47E6-46FC-99DD-504B419ACB31}" srcOrd="3" destOrd="0" parTransId="{74898250-6B69-4C07-AB60-7ED30D53F64A}" sibTransId="{871409EF-3A99-48B8-89F2-F3FEF3F7B36D}"/>
    <dgm:cxn modelId="{39166704-3FFB-44B2-90FA-3D66D4E7E694}" type="presOf" srcId="{90C4C276-5FE6-4CA8-9FD0-102D600F793E}" destId="{81B4CBF3-2FDB-476D-9504-0FA9DE362C62}" srcOrd="0" destOrd="0" presId="urn:microsoft.com/office/officeart/2005/8/layout/bProcess4"/>
    <dgm:cxn modelId="{EDE5E62A-5761-41FD-8E83-716A6A2D6230}" type="presOf" srcId="{2D373C59-0E79-4B9F-92FA-930FED8CD901}" destId="{253B9801-0708-4E3A-9DF2-36EFD64F0092}" srcOrd="0" destOrd="0" presId="urn:microsoft.com/office/officeart/2005/8/layout/bProcess4"/>
    <dgm:cxn modelId="{44C39082-51B0-4471-859F-0EEA82FB5116}" type="presOf" srcId="{745BF6A3-57B1-47EC-AE31-F3ED1EB73BBD}" destId="{13EBE84C-54DC-4982-8FE0-5EB684C32145}" srcOrd="0" destOrd="0" presId="urn:microsoft.com/office/officeart/2005/8/layout/bProcess4"/>
    <dgm:cxn modelId="{BEF7C3C0-FFFE-46D0-8BCE-443AF05DF63B}" srcId="{5F952D6C-9D1D-4467-A91E-DBF1A34FB43A}" destId="{8D6169F3-9F96-4138-B658-79B51A45E141}" srcOrd="4" destOrd="0" parTransId="{582CE6EB-C4DC-4A15-A65C-EC273F809253}" sibTransId="{91E11373-D317-43B4-99E3-DFDAB87DE8DB}"/>
    <dgm:cxn modelId="{12A01F00-177C-4CE0-83B3-ACBC5600FE17}" type="presOf" srcId="{7430EC3F-0840-4CAC-BBEE-9D06DE9CB17C}" destId="{AE0574FA-E297-47EA-968B-E856AE967867}" srcOrd="0" destOrd="0" presId="urn:microsoft.com/office/officeart/2005/8/layout/bProcess4"/>
    <dgm:cxn modelId="{ADBBEA65-4642-4209-AB29-E90023591A03}" type="presOf" srcId="{99C7CFA0-36E4-45A8-898E-16043DF35652}" destId="{EE14EACB-A908-49E9-B07B-4A31A375ABF2}" srcOrd="0" destOrd="0" presId="urn:microsoft.com/office/officeart/2005/8/layout/bProcess4"/>
    <dgm:cxn modelId="{AE13C065-8E29-4E95-9988-C39F4A1632FE}" type="presOf" srcId="{195B02B8-1C8A-4010-A645-D6C358E4B4E3}" destId="{8F9933D6-01A6-42EE-B1F8-44706876EC8F}" srcOrd="0" destOrd="0" presId="urn:microsoft.com/office/officeart/2005/8/layout/bProcess4"/>
    <dgm:cxn modelId="{286A137E-9E5C-4D36-8637-897E88A31DE2}" srcId="{5F952D6C-9D1D-4467-A91E-DBF1A34FB43A}" destId="{04F8B71A-BCAF-4E19-BBC2-E68DA65ABD8E}" srcOrd="5" destOrd="0" parTransId="{C7EFF411-952E-4BC0-9D69-0EC411EA3038}" sibTransId="{F5E69894-138D-4438-B0DF-6891592E6813}"/>
    <dgm:cxn modelId="{AAA18811-6191-4935-96C8-119016E6E958}" srcId="{5F952D6C-9D1D-4467-A91E-DBF1A34FB43A}" destId="{90C4C276-5FE6-4CA8-9FD0-102D600F793E}" srcOrd="2" destOrd="0" parTransId="{DC662188-366C-4A72-8452-DCC057A4FCF5}" sibTransId="{745BF6A3-57B1-47EC-AE31-F3ED1EB73BBD}"/>
    <dgm:cxn modelId="{FA89BE56-3B13-4142-9955-73C408377FED}" type="presOf" srcId="{9F1968D0-47E6-46FC-99DD-504B419ACB31}" destId="{40C8CCDB-8CCC-4C3D-BF96-E1D2A228EEDA}" srcOrd="0" destOrd="0" presId="urn:microsoft.com/office/officeart/2005/8/layout/bProcess4"/>
    <dgm:cxn modelId="{9795AC57-57A2-411D-9A3D-C83ED6C50ED3}" srcId="{5F952D6C-9D1D-4467-A91E-DBF1A34FB43A}" destId="{84515C0F-606F-4F3E-978F-8E03CF513E69}" srcOrd="8" destOrd="0" parTransId="{B195A0D1-85A0-4722-AE84-B6A79F8D3BED}" sibTransId="{5DA335AB-554B-4A86-BD00-243DB3ECC02F}"/>
    <dgm:cxn modelId="{BE5E4647-E3F2-491A-AE48-63ACB06FF32C}" type="presOf" srcId="{5F952D6C-9D1D-4467-A91E-DBF1A34FB43A}" destId="{05FED261-F9AB-416C-B479-BCE21AF31AE3}" srcOrd="0" destOrd="0" presId="urn:microsoft.com/office/officeart/2005/8/layout/bProcess4"/>
    <dgm:cxn modelId="{40CDD642-8C9E-41A1-B999-816D83097BFE}" type="presOf" srcId="{84515C0F-606F-4F3E-978F-8E03CF513E69}" destId="{DC843CD1-F108-4084-A0EC-13B5674D7A23}" srcOrd="0" destOrd="0" presId="urn:microsoft.com/office/officeart/2005/8/layout/bProcess4"/>
    <dgm:cxn modelId="{7E3A9165-615E-48FF-A21C-5B6E74DDC650}" type="presOf" srcId="{871409EF-3A99-48B8-89F2-F3FEF3F7B36D}" destId="{3DDCFBF9-9DDF-4B60-AA43-21ACA0632C14}" srcOrd="0" destOrd="0" presId="urn:microsoft.com/office/officeart/2005/8/layout/bProcess4"/>
    <dgm:cxn modelId="{614EF89D-500E-4EF7-A3E9-07B54CACDA00}" srcId="{5F952D6C-9D1D-4467-A91E-DBF1A34FB43A}" destId="{195B02B8-1C8A-4010-A645-D6C358E4B4E3}" srcOrd="1" destOrd="0" parTransId="{B86F36F2-B79D-44FF-A46B-E1136F7E1B65}" sibTransId="{23E08ED7-0BDB-4FD6-80A0-F9B4D6428790}"/>
    <dgm:cxn modelId="{2BD6AF2A-8D39-4410-8B60-D00925F75E18}" type="presOf" srcId="{91E11373-D317-43B4-99E3-DFDAB87DE8DB}" destId="{2A3B95A9-B939-48AD-82D2-966AF47B308F}" srcOrd="0" destOrd="0" presId="urn:microsoft.com/office/officeart/2005/8/layout/bProcess4"/>
    <dgm:cxn modelId="{B31B63C1-BB53-4DE1-B694-53755B9A1A80}" type="presOf" srcId="{04F8B71A-BCAF-4E19-BBC2-E68DA65ABD8E}" destId="{B9066675-8B95-4A0A-990C-535CC0DD9861}" srcOrd="0" destOrd="0" presId="urn:microsoft.com/office/officeart/2005/8/layout/bProcess4"/>
    <dgm:cxn modelId="{40807F3F-EB9A-4C8E-BAED-ADF5C426A64E}" type="presOf" srcId="{28FAF6B0-6EA5-408C-97B3-ACAE74AC173A}" destId="{D89278DD-0AFC-4480-8AB8-6B5A87F563B2}" srcOrd="0" destOrd="0" presId="urn:microsoft.com/office/officeart/2005/8/layout/bProcess4"/>
    <dgm:cxn modelId="{51881314-C1C8-4413-929F-D75D9A373314}" type="presOf" srcId="{8D6169F3-9F96-4138-B658-79B51A45E141}" destId="{5308D0A3-EE8B-4D11-A19C-8598A94F76F0}" srcOrd="0" destOrd="0" presId="urn:microsoft.com/office/officeart/2005/8/layout/bProcess4"/>
    <dgm:cxn modelId="{8D675B61-A680-48E5-91F4-3363DF236663}" type="presParOf" srcId="{05FED261-F9AB-416C-B479-BCE21AF31AE3}" destId="{E6AD1524-5577-4012-B26D-C9F0E1CB8BFB}" srcOrd="0" destOrd="0" presId="urn:microsoft.com/office/officeart/2005/8/layout/bProcess4"/>
    <dgm:cxn modelId="{17FE4587-EBB7-4821-ADF9-24D0110B609E}" type="presParOf" srcId="{E6AD1524-5577-4012-B26D-C9F0E1CB8BFB}" destId="{49C2C8FF-B3C7-4612-8335-AB245A205F57}" srcOrd="0" destOrd="0" presId="urn:microsoft.com/office/officeart/2005/8/layout/bProcess4"/>
    <dgm:cxn modelId="{BAA47E90-1DDC-4163-B4AD-BDEFA56F9B3E}" type="presParOf" srcId="{E6AD1524-5577-4012-B26D-C9F0E1CB8BFB}" destId="{253B9801-0708-4E3A-9DF2-36EFD64F0092}" srcOrd="1" destOrd="0" presId="urn:microsoft.com/office/officeart/2005/8/layout/bProcess4"/>
    <dgm:cxn modelId="{F5281CC1-A447-468E-B8AB-F343FB320047}" type="presParOf" srcId="{05FED261-F9AB-416C-B479-BCE21AF31AE3}" destId="{AE0574FA-E297-47EA-968B-E856AE967867}" srcOrd="1" destOrd="0" presId="urn:microsoft.com/office/officeart/2005/8/layout/bProcess4"/>
    <dgm:cxn modelId="{8FE3D7FD-31EE-4E6A-9801-C3B0984669A3}" type="presParOf" srcId="{05FED261-F9AB-416C-B479-BCE21AF31AE3}" destId="{04A4D365-393D-4971-8D78-99541488F8B5}" srcOrd="2" destOrd="0" presId="urn:microsoft.com/office/officeart/2005/8/layout/bProcess4"/>
    <dgm:cxn modelId="{EE370896-F1F4-4467-9201-6C4F074071A7}" type="presParOf" srcId="{04A4D365-393D-4971-8D78-99541488F8B5}" destId="{9D0B2B0C-6662-46CF-A619-695766EB1B4B}" srcOrd="0" destOrd="0" presId="urn:microsoft.com/office/officeart/2005/8/layout/bProcess4"/>
    <dgm:cxn modelId="{20B064B5-0FA8-4376-BA8D-166DC8FAEE0F}" type="presParOf" srcId="{04A4D365-393D-4971-8D78-99541488F8B5}" destId="{8F9933D6-01A6-42EE-B1F8-44706876EC8F}" srcOrd="1" destOrd="0" presId="urn:microsoft.com/office/officeart/2005/8/layout/bProcess4"/>
    <dgm:cxn modelId="{657DD252-97F1-45CB-9520-2A874D856E9E}" type="presParOf" srcId="{05FED261-F9AB-416C-B479-BCE21AF31AE3}" destId="{DF31CD5B-A64E-48EA-B313-38963E17FD12}" srcOrd="3" destOrd="0" presId="urn:microsoft.com/office/officeart/2005/8/layout/bProcess4"/>
    <dgm:cxn modelId="{49912BF6-9AE5-4029-8528-31E63CBB5BDD}" type="presParOf" srcId="{05FED261-F9AB-416C-B479-BCE21AF31AE3}" destId="{57D794AC-1894-477C-BCB9-37CE504BD775}" srcOrd="4" destOrd="0" presId="urn:microsoft.com/office/officeart/2005/8/layout/bProcess4"/>
    <dgm:cxn modelId="{488E695D-E4B6-47D2-A8E7-1E96024D5A9C}" type="presParOf" srcId="{57D794AC-1894-477C-BCB9-37CE504BD775}" destId="{01EC7319-E70D-442D-86BB-F0BD73D94352}" srcOrd="0" destOrd="0" presId="urn:microsoft.com/office/officeart/2005/8/layout/bProcess4"/>
    <dgm:cxn modelId="{9D0037EE-41C7-40B6-B563-2639D2C5A151}" type="presParOf" srcId="{57D794AC-1894-477C-BCB9-37CE504BD775}" destId="{81B4CBF3-2FDB-476D-9504-0FA9DE362C62}" srcOrd="1" destOrd="0" presId="urn:microsoft.com/office/officeart/2005/8/layout/bProcess4"/>
    <dgm:cxn modelId="{42C3B751-A112-4597-AB1B-4CC8A8B16F01}" type="presParOf" srcId="{05FED261-F9AB-416C-B479-BCE21AF31AE3}" destId="{13EBE84C-54DC-4982-8FE0-5EB684C32145}" srcOrd="5" destOrd="0" presId="urn:microsoft.com/office/officeart/2005/8/layout/bProcess4"/>
    <dgm:cxn modelId="{3B20F689-DDEA-4EE7-BACA-8D55DAF3DACD}" type="presParOf" srcId="{05FED261-F9AB-416C-B479-BCE21AF31AE3}" destId="{C8034257-D903-44A0-93A4-4C7DB84E7590}" srcOrd="6" destOrd="0" presId="urn:microsoft.com/office/officeart/2005/8/layout/bProcess4"/>
    <dgm:cxn modelId="{73604370-D0EE-45A4-A8CF-401404EA4DDE}" type="presParOf" srcId="{C8034257-D903-44A0-93A4-4C7DB84E7590}" destId="{FC9792D1-E848-4858-AD9B-7FE84033DD05}" srcOrd="0" destOrd="0" presId="urn:microsoft.com/office/officeart/2005/8/layout/bProcess4"/>
    <dgm:cxn modelId="{D9C8F137-6EB9-4203-A190-1EA35F4837B5}" type="presParOf" srcId="{C8034257-D903-44A0-93A4-4C7DB84E7590}" destId="{40C8CCDB-8CCC-4C3D-BF96-E1D2A228EEDA}" srcOrd="1" destOrd="0" presId="urn:microsoft.com/office/officeart/2005/8/layout/bProcess4"/>
    <dgm:cxn modelId="{DBB90BA4-0CF2-4070-8BF7-4CF565482473}" type="presParOf" srcId="{05FED261-F9AB-416C-B479-BCE21AF31AE3}" destId="{3DDCFBF9-9DDF-4B60-AA43-21ACA0632C14}" srcOrd="7" destOrd="0" presId="urn:microsoft.com/office/officeart/2005/8/layout/bProcess4"/>
    <dgm:cxn modelId="{137A2953-B503-455C-838F-8CE8D4450E12}" type="presParOf" srcId="{05FED261-F9AB-416C-B479-BCE21AF31AE3}" destId="{450960CC-A233-4FB0-AE8B-D542918A6FF1}" srcOrd="8" destOrd="0" presId="urn:microsoft.com/office/officeart/2005/8/layout/bProcess4"/>
    <dgm:cxn modelId="{61734677-91A6-4091-B55E-939BEE2635DB}" type="presParOf" srcId="{450960CC-A233-4FB0-AE8B-D542918A6FF1}" destId="{55931974-26EE-45F9-82DC-D15F2B092FCA}" srcOrd="0" destOrd="0" presId="urn:microsoft.com/office/officeart/2005/8/layout/bProcess4"/>
    <dgm:cxn modelId="{7FC37DA1-8872-4FBC-AE5D-75E5203A25CD}" type="presParOf" srcId="{450960CC-A233-4FB0-AE8B-D542918A6FF1}" destId="{5308D0A3-EE8B-4D11-A19C-8598A94F76F0}" srcOrd="1" destOrd="0" presId="urn:microsoft.com/office/officeart/2005/8/layout/bProcess4"/>
    <dgm:cxn modelId="{FC7B6F3B-F08B-4DE6-A209-4B280F76FD3E}" type="presParOf" srcId="{05FED261-F9AB-416C-B479-BCE21AF31AE3}" destId="{2A3B95A9-B939-48AD-82D2-966AF47B308F}" srcOrd="9" destOrd="0" presId="urn:microsoft.com/office/officeart/2005/8/layout/bProcess4"/>
    <dgm:cxn modelId="{70CCAD46-79BD-4F94-B4D3-674906619F7F}" type="presParOf" srcId="{05FED261-F9AB-416C-B479-BCE21AF31AE3}" destId="{C222C22F-DEFE-4C77-872C-044256AAB1D5}" srcOrd="10" destOrd="0" presId="urn:microsoft.com/office/officeart/2005/8/layout/bProcess4"/>
    <dgm:cxn modelId="{E978DAE0-2F92-4872-9EC4-67A9E36BCA78}" type="presParOf" srcId="{C222C22F-DEFE-4C77-872C-044256AAB1D5}" destId="{38B710D6-111D-40BB-9670-4F3CB7BD7EA7}" srcOrd="0" destOrd="0" presId="urn:microsoft.com/office/officeart/2005/8/layout/bProcess4"/>
    <dgm:cxn modelId="{FD6634EE-96A4-4EC0-A0B2-4E63752097B1}" type="presParOf" srcId="{C222C22F-DEFE-4C77-872C-044256AAB1D5}" destId="{B9066675-8B95-4A0A-990C-535CC0DD9861}" srcOrd="1" destOrd="0" presId="urn:microsoft.com/office/officeart/2005/8/layout/bProcess4"/>
    <dgm:cxn modelId="{9A3F10E5-95CE-4E7E-849C-C44D7CD21C84}" type="presParOf" srcId="{05FED261-F9AB-416C-B479-BCE21AF31AE3}" destId="{DDF33CA0-AA19-43A4-8762-7F24B0E4CED9}" srcOrd="11" destOrd="0" presId="urn:microsoft.com/office/officeart/2005/8/layout/bProcess4"/>
    <dgm:cxn modelId="{18D5BDCA-5134-4281-BDCB-5993F8FAE672}" type="presParOf" srcId="{05FED261-F9AB-416C-B479-BCE21AF31AE3}" destId="{47A5CE24-0B96-447B-B98D-2E324BF322AB}" srcOrd="12" destOrd="0" presId="urn:microsoft.com/office/officeart/2005/8/layout/bProcess4"/>
    <dgm:cxn modelId="{B905EEE6-53DB-41D1-B8B8-0940841B30FE}" type="presParOf" srcId="{47A5CE24-0B96-447B-B98D-2E324BF322AB}" destId="{F5B3C511-0F15-4766-B4DD-AF7C17469D7D}" srcOrd="0" destOrd="0" presId="urn:microsoft.com/office/officeart/2005/8/layout/bProcess4"/>
    <dgm:cxn modelId="{554E912F-414D-4EB9-8019-0B3418B79908}" type="presParOf" srcId="{47A5CE24-0B96-447B-B98D-2E324BF322AB}" destId="{D89278DD-0AFC-4480-8AB8-6B5A87F563B2}" srcOrd="1" destOrd="0" presId="urn:microsoft.com/office/officeart/2005/8/layout/bProcess4"/>
    <dgm:cxn modelId="{62559DC0-D1C4-4E1C-ABB9-28928D94759B}" type="presParOf" srcId="{05FED261-F9AB-416C-B479-BCE21AF31AE3}" destId="{A07BB3E3-285C-4766-AAFF-2898A2E65C0A}" srcOrd="13" destOrd="0" presId="urn:microsoft.com/office/officeart/2005/8/layout/bProcess4"/>
    <dgm:cxn modelId="{011B4A59-AD69-410C-9F84-340247BE6414}" type="presParOf" srcId="{05FED261-F9AB-416C-B479-BCE21AF31AE3}" destId="{CE81DF42-16F1-481D-9814-370BCCCBC7CF}" srcOrd="14" destOrd="0" presId="urn:microsoft.com/office/officeart/2005/8/layout/bProcess4"/>
    <dgm:cxn modelId="{923FF504-C6EE-4A98-B487-B309C523206F}" type="presParOf" srcId="{CE81DF42-16F1-481D-9814-370BCCCBC7CF}" destId="{8DFAF545-41E4-426B-83E9-1FEE3AB8776E}" srcOrd="0" destOrd="0" presId="urn:microsoft.com/office/officeart/2005/8/layout/bProcess4"/>
    <dgm:cxn modelId="{DFB19516-0461-4F27-90DC-50CA24F6FFDF}" type="presParOf" srcId="{CE81DF42-16F1-481D-9814-370BCCCBC7CF}" destId="{85FAFF98-2232-4126-A0C3-84E1589D0099}" srcOrd="1" destOrd="0" presId="urn:microsoft.com/office/officeart/2005/8/layout/bProcess4"/>
    <dgm:cxn modelId="{7F585119-E817-4AE1-8A33-331C4292BEC2}" type="presParOf" srcId="{05FED261-F9AB-416C-B479-BCE21AF31AE3}" destId="{EE14EACB-A908-49E9-B07B-4A31A375ABF2}" srcOrd="15" destOrd="0" presId="urn:microsoft.com/office/officeart/2005/8/layout/bProcess4"/>
    <dgm:cxn modelId="{D3FAFADA-FB66-4120-A948-A9AC8EA1383B}" type="presParOf" srcId="{05FED261-F9AB-416C-B479-BCE21AF31AE3}" destId="{30B02167-5D79-4475-B0C1-32FCC8918480}" srcOrd="16" destOrd="0" presId="urn:microsoft.com/office/officeart/2005/8/layout/bProcess4"/>
    <dgm:cxn modelId="{D43F53F6-2EB3-4105-AA8D-5281679BC51A}" type="presParOf" srcId="{30B02167-5D79-4475-B0C1-32FCC8918480}" destId="{752F960B-3591-4669-8EA0-63FE2029E4FD}" srcOrd="0" destOrd="0" presId="urn:microsoft.com/office/officeart/2005/8/layout/bProcess4"/>
    <dgm:cxn modelId="{49254715-A501-4ADC-AE76-7ED15AA0500B}" type="presParOf" srcId="{30B02167-5D79-4475-B0C1-32FCC8918480}" destId="{DC843CD1-F108-4084-A0EC-13B5674D7A23}" srcOrd="1" destOrd="0" presId="urn:microsoft.com/office/officeart/2005/8/layout/bProcess4"/>
  </dgm:cxnLst>
  <dgm:bg/>
  <dgm:whole/>
</dgm:dataModel>
</file>

<file path=ppt/diagrams/layout1.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rot="21600000">
            <a:off x="9496425" y="6115050"/>
            <a:ext cx="2019300" cy="552450"/>
          </a:xfrm>
          <a:prstGeom prst="rect">
            <a:avLst/>
          </a:prstGeom>
        </p:spPr>
      </p:pic>
      <p:sp>
        <p:nvSpPr>
          <p:cNvPr id="4" name="textbox 4"/>
          <p:cNvSpPr/>
          <p:nvPr/>
        </p:nvSpPr>
        <p:spPr>
          <a:xfrm>
            <a:off x="1849757" y="6244193"/>
            <a:ext cx="6029959" cy="339725"/>
          </a:xfrm>
          <a:prstGeom prst="rect">
            <a:avLst/>
          </a:prstGeom>
          <a:noFill/>
          <a:ln w="0" cap="flat">
            <a:noFill/>
            <a:prstDash val="solid"/>
            <a:miter lim="0"/>
          </a:ln>
        </p:spPr>
        <p:txBody>
          <a:bodyPr vert="horz" wrap="square" lIns="0" tIns="0" rIns="0" bIns="0"/>
          <a:lstStyle/>
          <a:p>
            <a:pPr algn="l" rtl="0" eaLnBrk="0">
              <a:lnSpc>
                <a:spcPct val="78627"/>
              </a:lnSpc>
              <a:tabLst/>
            </a:pPr>
            <a:endParaRPr sz="100" dirty="0">
              <a:latin typeface="Arial"/>
              <a:ea typeface="Arial"/>
              <a:cs typeface="Arial"/>
            </a:endParaRPr>
          </a:p>
          <a:p>
            <a:pPr marL="12700" algn="l" rtl="0" eaLnBrk="0">
              <a:lnSpc>
                <a:spcPct val="91000"/>
              </a:lnSpc>
              <a:tabLst/>
            </a:pPr>
            <a:r>
              <a:rPr sz="1100" kern="0" spc="0" dirty="0">
                <a:solidFill>
                  <a:srgbClr val="AFABAB">
                    <a:alpha val="100000"/>
                  </a:srgbClr>
                </a:solidFill>
                <a:latin typeface="Calibri"/>
                <a:ea typeface="Calibri"/>
                <a:cs typeface="Calibri"/>
              </a:rPr>
              <a:t>information             document belongs      Bost</a:t>
            </a:r>
            <a:r>
              <a:rPr sz="1100" kern="0" spc="-10" dirty="0">
                <a:solidFill>
                  <a:srgbClr val="AFABAB">
                    <a:alpha val="100000"/>
                  </a:srgbClr>
                </a:solidFill>
                <a:latin typeface="Calibri"/>
                <a:ea typeface="Calibri"/>
                <a:cs typeface="Calibri"/>
              </a:rPr>
              <a:t>on</a:t>
            </a:r>
            <a:r>
              <a:rPr sz="1100" kern="0" spc="7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Institute of                          Any</a:t>
            </a:r>
            <a:r>
              <a:rPr sz="1100" kern="0" spc="7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unauthorized</a:t>
            </a:r>
            <a:r>
              <a:rPr sz="1100" kern="0" spc="2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sharing</a:t>
            </a:r>
            <a:r>
              <a:rPr sz="1100" kern="0" spc="2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of</a:t>
            </a:r>
            <a:r>
              <a:rPr sz="1100" kern="0" spc="2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this</a:t>
            </a:r>
            <a:endParaRPr sz="1100" dirty="0">
              <a:latin typeface="Calibri"/>
              <a:ea typeface="Calibri"/>
              <a:cs typeface="Calibri"/>
            </a:endParaRPr>
          </a:p>
          <a:p>
            <a:pPr marL="329565" algn="l" rtl="0" eaLnBrk="0">
              <a:lnSpc>
                <a:spcPct val="91000"/>
              </a:lnSpc>
              <a:spcBef>
                <a:spcPts val="76"/>
              </a:spcBef>
              <a:tabLst/>
            </a:pPr>
            <a:r>
              <a:rPr sz="1100" kern="0" spc="-10" dirty="0">
                <a:solidFill>
                  <a:srgbClr val="AFABAB">
                    <a:alpha val="100000"/>
                  </a:srgbClr>
                </a:solidFill>
                <a:latin typeface="Calibri"/>
                <a:ea typeface="Calibri"/>
                <a:cs typeface="Calibri"/>
              </a:rPr>
              <a:t>subject                            under               of</a:t>
            </a:r>
            <a:r>
              <a:rPr sz="1100" kern="0" spc="12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IP and confidentiality               .</a:t>
            </a:r>
            <a:endParaRPr sz="1100" dirty="0">
              <a:latin typeface="Calibri"/>
              <a:ea typeface="Calibri"/>
              <a:cs typeface="Calibri"/>
            </a:endParaRPr>
          </a:p>
        </p:txBody>
      </p:sp>
      <p:pic>
        <p:nvPicPr>
          <p:cNvPr id="6" name="picture 6"/>
          <p:cNvPicPr>
            <a:picLocks noChangeAspect="1"/>
          </p:cNvPicPr>
          <p:nvPr/>
        </p:nvPicPr>
        <p:blipFill>
          <a:blip r:embed="rId3"/>
          <a:stretch>
            <a:fillRect/>
          </a:stretch>
        </p:blipFill>
        <p:spPr>
          <a:xfrm rot="21600000">
            <a:off x="0" y="0"/>
            <a:ext cx="12192000" cy="6857997"/>
          </a:xfrm>
          <a:prstGeom prst="rect">
            <a:avLst/>
          </a:prstGeom>
        </p:spPr>
      </p:pic>
      <p:sp>
        <p:nvSpPr>
          <p:cNvPr id="8" name="textbox 8"/>
          <p:cNvSpPr/>
          <p:nvPr/>
        </p:nvSpPr>
        <p:spPr>
          <a:xfrm>
            <a:off x="1494691" y="2952813"/>
            <a:ext cx="10489223" cy="898218"/>
          </a:xfrm>
          <a:prstGeom prst="rect">
            <a:avLst/>
          </a:prstGeom>
          <a:noFill/>
          <a:ln w="0" cap="flat">
            <a:noFill/>
            <a:prstDash val="solid"/>
            <a:miter lim="0"/>
          </a:ln>
        </p:spPr>
        <p:txBody>
          <a:bodyPr vert="horz" wrap="square" lIns="0" tIns="0" rIns="0" bIns="0"/>
          <a:lstStyle/>
          <a:p>
            <a:pPr algn="l" rtl="0" eaLnBrk="0">
              <a:lnSpc>
                <a:spcPct val="85814"/>
              </a:lnSpc>
              <a:tabLst/>
            </a:pPr>
            <a:endParaRPr sz="100" dirty="0">
              <a:latin typeface="Arial"/>
              <a:ea typeface="Arial"/>
              <a:cs typeface="Arial"/>
            </a:endParaRPr>
          </a:p>
          <a:p>
            <a:pPr marL="12700" algn="ctr" eaLnBrk="0">
              <a:lnSpc>
                <a:spcPct val="89000"/>
              </a:lnSpc>
            </a:pPr>
            <a:r>
              <a:rPr lang="en-US" sz="4400" dirty="0" smtClean="0">
                <a:solidFill>
                  <a:schemeClr val="bg1"/>
                </a:solidFill>
                <a:latin typeface="Calibri"/>
                <a:ea typeface="Calibri"/>
                <a:cs typeface="Calibri"/>
              </a:rPr>
              <a:t>E-commerce Customer Segmentation and Prediction</a:t>
            </a:r>
          </a:p>
          <a:p>
            <a:pPr marL="12700" algn="ctr" eaLnBrk="0">
              <a:lnSpc>
                <a:spcPct val="89000"/>
              </a:lnSpc>
            </a:pPr>
            <a:r>
              <a:rPr lang="en-US" sz="4400" dirty="0" smtClean="0">
                <a:solidFill>
                  <a:schemeClr val="bg1"/>
                </a:solidFill>
                <a:latin typeface="Calibri"/>
                <a:ea typeface="Calibri"/>
                <a:cs typeface="Calibri"/>
              </a:rPr>
              <a:t>By </a:t>
            </a:r>
            <a:r>
              <a:rPr lang="en-US" sz="4400" dirty="0" err="1" smtClean="0">
                <a:solidFill>
                  <a:schemeClr val="bg1"/>
                </a:solidFill>
                <a:latin typeface="Calibri"/>
                <a:ea typeface="Calibri"/>
                <a:cs typeface="Calibri"/>
              </a:rPr>
              <a:t>Ritesh</a:t>
            </a:r>
            <a:r>
              <a:rPr lang="en-US" sz="4400" dirty="0" smtClean="0">
                <a:solidFill>
                  <a:schemeClr val="bg1"/>
                </a:solidFill>
                <a:latin typeface="Calibri"/>
                <a:ea typeface="Calibri"/>
                <a:cs typeface="Calibri"/>
              </a:rPr>
              <a:t> Kumar</a:t>
            </a:r>
            <a:endParaRPr sz="4400" dirty="0">
              <a:solidFill>
                <a:schemeClr val="bg1"/>
              </a:solidFill>
              <a:latin typeface="Calibri"/>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0"/>
          <p:cNvSpPr/>
          <p:nvPr/>
        </p:nvSpPr>
        <p:spPr>
          <a:xfrm>
            <a:off x="672334" y="6244193"/>
            <a:ext cx="7207250" cy="339725"/>
          </a:xfrm>
          <a:prstGeom prst="rect">
            <a:avLst/>
          </a:prstGeom>
          <a:noFill/>
          <a:ln w="0" cap="flat">
            <a:noFill/>
            <a:prstDash val="solid"/>
            <a:miter lim="0"/>
          </a:ln>
        </p:spPr>
        <p:txBody>
          <a:bodyPr vert="horz" wrap="square" lIns="0" tIns="0" rIns="0" bIns="0"/>
          <a:lstStyle/>
          <a:p>
            <a:pPr algn="l" rtl="0" eaLnBrk="0">
              <a:lnSpc>
                <a:spcPct val="76312"/>
              </a:lnSpc>
              <a:tabLst/>
            </a:pPr>
            <a:endParaRPr sz="100" dirty="0">
              <a:latin typeface="Arial"/>
              <a:ea typeface="Arial"/>
              <a:cs typeface="Arial"/>
            </a:endParaRPr>
          </a:p>
          <a:p>
            <a:pPr marL="17145" indent="-5080" algn="l" rtl="0" eaLnBrk="0">
              <a:lnSpc>
                <a:spcPct val="94000"/>
              </a:lnSpc>
              <a:tabLst/>
            </a:pPr>
            <a:r>
              <a:rPr sz="1100" b="1" kern="0" spc="0" dirty="0">
                <a:solidFill>
                  <a:srgbClr val="AFABAB">
                    <a:alpha val="100000"/>
                  </a:srgbClr>
                </a:solidFill>
                <a:latin typeface="Calibri"/>
                <a:ea typeface="Calibri"/>
                <a:cs typeface="Calibri"/>
              </a:rPr>
              <a:t>CONFIDENTIAL</a:t>
            </a:r>
            <a:r>
              <a:rPr sz="1100" kern="0" spc="0" dirty="0">
                <a:solidFill>
                  <a:srgbClr val="AFABAB">
                    <a:alpha val="100000"/>
                  </a:srgbClr>
                </a:solidFill>
                <a:latin typeface="Calibri"/>
                <a:ea typeface="Calibri"/>
                <a:cs typeface="Calibri"/>
              </a:rPr>
              <a:t>: The</a:t>
            </a:r>
            <a:r>
              <a:rPr sz="1100" kern="0" spc="80" dirty="0">
                <a:solidFill>
                  <a:srgbClr val="AFABAB">
                    <a:alpha val="100000"/>
                  </a:srgbClr>
                </a:solidFill>
                <a:latin typeface="Calibri"/>
                <a:ea typeface="Calibri"/>
                <a:cs typeface="Calibri"/>
              </a:rPr>
              <a:t> </a:t>
            </a:r>
            <a:r>
              <a:rPr sz="1100" kern="0" spc="0" dirty="0">
                <a:solidFill>
                  <a:srgbClr val="AFABAB">
                    <a:alpha val="100000"/>
                  </a:srgbClr>
                </a:solidFill>
                <a:latin typeface="Calibri"/>
                <a:ea typeface="Calibri"/>
                <a:cs typeface="Calibri"/>
              </a:rPr>
              <a:t>information in th</a:t>
            </a:r>
            <a:r>
              <a:rPr sz="1100" kern="0" spc="-10" dirty="0">
                <a:solidFill>
                  <a:srgbClr val="AFABAB">
                    <a:alpha val="100000"/>
                  </a:srgbClr>
                </a:solidFill>
                <a:latin typeface="Calibri"/>
                <a:ea typeface="Calibri"/>
                <a:cs typeface="Calibri"/>
              </a:rPr>
              <a:t>is document belongs to</a:t>
            </a:r>
            <a:r>
              <a:rPr sz="1100" kern="0" spc="8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Boston</a:t>
            </a:r>
            <a:r>
              <a:rPr sz="1100" kern="0" spc="7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Institute of Analytics</a:t>
            </a:r>
            <a:r>
              <a:rPr sz="1100" kern="0" spc="8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LLC. Any</a:t>
            </a:r>
            <a:r>
              <a:rPr sz="1100" kern="0" spc="7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unauthorized sharing of</a:t>
            </a:r>
            <a:r>
              <a:rPr sz="1100" kern="0" spc="1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this</a:t>
            </a:r>
            <a:r>
              <a:rPr sz="1100" kern="0" spc="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material</a:t>
            </a:r>
            <a:r>
              <a:rPr sz="1100" kern="0" spc="14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is</a:t>
            </a:r>
            <a:r>
              <a:rPr sz="1100" kern="0" spc="6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prohibited and subject to</a:t>
            </a:r>
            <a:r>
              <a:rPr sz="1100" kern="0" spc="7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legal</a:t>
            </a:r>
            <a:r>
              <a:rPr sz="1100" kern="0" spc="6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action</a:t>
            </a:r>
            <a:r>
              <a:rPr sz="1100" kern="0" spc="6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under</a:t>
            </a:r>
            <a:r>
              <a:rPr sz="1100" kern="0" spc="12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breach of</a:t>
            </a:r>
            <a:r>
              <a:rPr sz="1100" kern="0" spc="9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IP and confidentiality clauses.</a:t>
            </a:r>
            <a:endParaRPr sz="1100" dirty="0">
              <a:latin typeface="Calibri"/>
              <a:ea typeface="Calibri"/>
              <a:cs typeface="Calibri"/>
            </a:endParaRPr>
          </a:p>
        </p:txBody>
      </p:sp>
      <p:pic>
        <p:nvPicPr>
          <p:cNvPr id="12" name="picture 12"/>
          <p:cNvPicPr>
            <a:picLocks noChangeAspect="1"/>
          </p:cNvPicPr>
          <p:nvPr/>
        </p:nvPicPr>
        <p:blipFill>
          <a:blip r:embed="rId2"/>
          <a:stretch>
            <a:fillRect/>
          </a:stretch>
        </p:blipFill>
        <p:spPr>
          <a:xfrm rot="21600000">
            <a:off x="9496425" y="6115050"/>
            <a:ext cx="2019300" cy="552450"/>
          </a:xfrm>
          <a:prstGeom prst="rect">
            <a:avLst/>
          </a:prstGeom>
        </p:spPr>
      </p:pic>
      <p:sp>
        <p:nvSpPr>
          <p:cNvPr id="14" name="textbox 14"/>
          <p:cNvSpPr/>
          <p:nvPr/>
        </p:nvSpPr>
        <p:spPr>
          <a:xfrm>
            <a:off x="351692" y="720968"/>
            <a:ext cx="7025054" cy="5627077"/>
          </a:xfrm>
          <a:prstGeom prst="rect">
            <a:avLst/>
          </a:prstGeom>
          <a:noFill/>
          <a:ln w="0" cap="flat">
            <a:noFill/>
            <a:prstDash val="solid"/>
            <a:miter lim="0"/>
          </a:ln>
        </p:spPr>
        <p:txBody>
          <a:bodyPr vert="horz" wrap="square" lIns="0" tIns="0" rIns="0" bIns="0"/>
          <a:lstStyle/>
          <a:p>
            <a:r>
              <a:rPr lang="en-US" sz="2400" b="1" dirty="0" smtClean="0"/>
              <a:t>Project Overview:</a:t>
            </a:r>
          </a:p>
          <a:p>
            <a:pPr marL="457200" indent="-457200"/>
            <a:r>
              <a:rPr lang="en-US" sz="2400" dirty="0" smtClean="0"/>
              <a:t>      </a:t>
            </a:r>
            <a:r>
              <a:rPr lang="en-US" sz="2400" dirty="0" smtClean="0"/>
              <a:t>1.Introduction</a:t>
            </a:r>
            <a:r>
              <a:rPr lang="en-US" sz="2400" dirty="0" smtClean="0"/>
              <a:t/>
            </a:r>
            <a:br>
              <a:rPr lang="en-US" sz="2400" dirty="0" smtClean="0"/>
            </a:br>
            <a:r>
              <a:rPr lang="en-US" sz="2400" dirty="0" smtClean="0"/>
              <a:t>2. Dataset Overview &amp; Cleaning</a:t>
            </a:r>
            <a:br>
              <a:rPr lang="en-US" sz="2400" dirty="0" smtClean="0"/>
            </a:br>
            <a:r>
              <a:rPr lang="en-US" sz="2400" dirty="0" smtClean="0"/>
              <a:t>3. RFM Feature Engineering</a:t>
            </a:r>
            <a:br>
              <a:rPr lang="en-US" sz="2400" dirty="0" smtClean="0"/>
            </a:br>
            <a:r>
              <a:rPr lang="en-US" sz="2400" dirty="0" smtClean="0"/>
              <a:t>4. Exploratory Data Analysis (Graphs)</a:t>
            </a:r>
            <a:br>
              <a:rPr lang="en-US" sz="2400" dirty="0" smtClean="0"/>
            </a:br>
            <a:r>
              <a:rPr lang="en-US" sz="2400" dirty="0" smtClean="0"/>
              <a:t>5. Outlier Handling &amp; Scaling</a:t>
            </a:r>
            <a:br>
              <a:rPr lang="en-US" sz="2400" dirty="0" smtClean="0"/>
            </a:br>
            <a:r>
              <a:rPr lang="en-US" sz="2400" dirty="0" smtClean="0"/>
              <a:t>6. Customer Segmentation (K-Means + Others)</a:t>
            </a:r>
            <a:br>
              <a:rPr lang="en-US" sz="2400" dirty="0" smtClean="0"/>
            </a:br>
            <a:r>
              <a:rPr lang="en-US" sz="2400" dirty="0" smtClean="0"/>
              <a:t>7. Segment Interpretation (VIP, Loyal, etc.)</a:t>
            </a:r>
            <a:br>
              <a:rPr lang="en-US" sz="2400" dirty="0" smtClean="0"/>
            </a:br>
            <a:r>
              <a:rPr lang="en-US" sz="2400" dirty="0" smtClean="0"/>
              <a:t>8. Prediction Model (Random Forest)</a:t>
            </a:r>
            <a:br>
              <a:rPr lang="en-US" sz="2400" dirty="0" smtClean="0"/>
            </a:br>
            <a:r>
              <a:rPr lang="en-US" sz="2400" dirty="0" smtClean="0"/>
              <a:t>9. </a:t>
            </a:r>
            <a:r>
              <a:rPr lang="en-US" sz="2400" dirty="0" err="1" smtClean="0"/>
              <a:t>Streamlit</a:t>
            </a:r>
            <a:r>
              <a:rPr lang="en-US" sz="2400" dirty="0" smtClean="0"/>
              <a:t> App </a:t>
            </a:r>
            <a:br>
              <a:rPr lang="en-US" sz="2400" dirty="0" smtClean="0"/>
            </a:br>
            <a:r>
              <a:rPr lang="en-US" sz="2400" dirty="0" smtClean="0"/>
              <a:t>11. Conclusion</a:t>
            </a:r>
          </a:p>
          <a:p>
            <a:pPr marL="457200" indent="-457200"/>
            <a:r>
              <a:rPr lang="en-US" sz="2400" dirty="0" smtClean="0"/>
              <a:t>      12.Recomendation</a:t>
            </a:r>
          </a:p>
          <a:p>
            <a:pPr marL="457200" indent="-457200"/>
            <a:r>
              <a:rPr lang="en-US" sz="2400" dirty="0" smtClean="0"/>
              <a:t>       13.Future Scope</a:t>
            </a:r>
          </a:p>
          <a:p>
            <a:pPr marL="457200" indent="-457200"/>
            <a:endParaRPr lang="en-US" sz="2400" dirty="0" smtClean="0"/>
          </a:p>
          <a:p>
            <a:pPr algn="l" rtl="0" eaLnBrk="0">
              <a:lnSpc>
                <a:spcPct val="67118"/>
              </a:lnSpc>
              <a:tabLst/>
            </a:pPr>
            <a:endParaRPr sz="100" dirty="0">
              <a:latin typeface="Arial"/>
              <a:ea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6"/>
          <p:cNvSpPr/>
          <p:nvPr/>
        </p:nvSpPr>
        <p:spPr>
          <a:xfrm>
            <a:off x="-1" y="105509"/>
            <a:ext cx="12192001" cy="6110654"/>
          </a:xfrm>
          <a:prstGeom prst="rect">
            <a:avLst/>
          </a:prstGeom>
          <a:noFill/>
          <a:ln w="0" cap="flat">
            <a:noFill/>
            <a:prstDash val="solid"/>
            <a:miter lim="0"/>
          </a:ln>
        </p:spPr>
        <p:txBody>
          <a:bodyPr vert="horz" wrap="square" lIns="0" tIns="0" rIns="0" bIns="0"/>
          <a:lstStyle/>
          <a:p>
            <a:pPr algn="l" rtl="0" eaLnBrk="0">
              <a:lnSpc>
                <a:spcPct val="82141"/>
              </a:lnSpc>
              <a:tabLst/>
            </a:pPr>
            <a:endParaRPr sz="100" dirty="0">
              <a:latin typeface="Arial"/>
              <a:ea typeface="Arial"/>
              <a:cs typeface="Arial"/>
            </a:endParaRPr>
          </a:p>
          <a:p>
            <a:pPr algn="l" rtl="0" eaLnBrk="0">
              <a:lnSpc>
                <a:spcPct val="111000"/>
              </a:lnSpc>
              <a:tabLst/>
            </a:pPr>
            <a:endParaRPr sz="1000" dirty="0">
              <a:latin typeface="Arial"/>
              <a:ea typeface="Arial"/>
              <a:cs typeface="Arial"/>
            </a:endParaRPr>
          </a:p>
        </p:txBody>
      </p:sp>
      <p:sp>
        <p:nvSpPr>
          <p:cNvPr id="18" name="textbox 18"/>
          <p:cNvSpPr/>
          <p:nvPr/>
        </p:nvSpPr>
        <p:spPr>
          <a:xfrm>
            <a:off x="672334" y="6244193"/>
            <a:ext cx="7207250" cy="339725"/>
          </a:xfrm>
          <a:prstGeom prst="rect">
            <a:avLst/>
          </a:prstGeom>
          <a:noFill/>
          <a:ln w="0" cap="flat">
            <a:noFill/>
            <a:prstDash val="solid"/>
            <a:miter lim="0"/>
          </a:ln>
        </p:spPr>
        <p:txBody>
          <a:bodyPr vert="horz" wrap="square" lIns="0" tIns="0" rIns="0" bIns="0"/>
          <a:lstStyle/>
          <a:p>
            <a:pPr algn="l" rtl="0" eaLnBrk="0">
              <a:lnSpc>
                <a:spcPct val="76312"/>
              </a:lnSpc>
              <a:tabLst/>
            </a:pPr>
            <a:endParaRPr sz="100" dirty="0">
              <a:latin typeface="Arial"/>
              <a:ea typeface="Arial"/>
              <a:cs typeface="Arial"/>
            </a:endParaRPr>
          </a:p>
          <a:p>
            <a:pPr marL="17145" indent="-5080" algn="l" rtl="0" eaLnBrk="0">
              <a:lnSpc>
                <a:spcPct val="94000"/>
              </a:lnSpc>
              <a:tabLst/>
            </a:pPr>
            <a:r>
              <a:rPr sz="1100" b="1" kern="0" spc="0" dirty="0">
                <a:solidFill>
                  <a:srgbClr val="AFABAB">
                    <a:alpha val="100000"/>
                  </a:srgbClr>
                </a:solidFill>
                <a:latin typeface="Calibri"/>
                <a:ea typeface="Calibri"/>
                <a:cs typeface="Calibri"/>
              </a:rPr>
              <a:t>CONFIDENTIAL</a:t>
            </a:r>
            <a:r>
              <a:rPr sz="1100" kern="0" spc="0" dirty="0">
                <a:solidFill>
                  <a:srgbClr val="AFABAB">
                    <a:alpha val="100000"/>
                  </a:srgbClr>
                </a:solidFill>
                <a:latin typeface="Calibri"/>
                <a:ea typeface="Calibri"/>
                <a:cs typeface="Calibri"/>
              </a:rPr>
              <a:t>: The</a:t>
            </a:r>
            <a:r>
              <a:rPr sz="1100" kern="0" spc="80" dirty="0">
                <a:solidFill>
                  <a:srgbClr val="AFABAB">
                    <a:alpha val="100000"/>
                  </a:srgbClr>
                </a:solidFill>
                <a:latin typeface="Calibri"/>
                <a:ea typeface="Calibri"/>
                <a:cs typeface="Calibri"/>
              </a:rPr>
              <a:t> </a:t>
            </a:r>
            <a:r>
              <a:rPr sz="1100" kern="0" spc="0" dirty="0">
                <a:solidFill>
                  <a:srgbClr val="AFABAB">
                    <a:alpha val="100000"/>
                  </a:srgbClr>
                </a:solidFill>
                <a:latin typeface="Calibri"/>
                <a:ea typeface="Calibri"/>
                <a:cs typeface="Calibri"/>
              </a:rPr>
              <a:t>information in th</a:t>
            </a:r>
            <a:r>
              <a:rPr sz="1100" kern="0" spc="-10" dirty="0">
                <a:solidFill>
                  <a:srgbClr val="AFABAB">
                    <a:alpha val="100000"/>
                  </a:srgbClr>
                </a:solidFill>
                <a:latin typeface="Calibri"/>
                <a:ea typeface="Calibri"/>
                <a:cs typeface="Calibri"/>
              </a:rPr>
              <a:t>is document belongs to</a:t>
            </a:r>
            <a:r>
              <a:rPr sz="1100" kern="0" spc="8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Boston</a:t>
            </a:r>
            <a:r>
              <a:rPr sz="1100" kern="0" spc="7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Institute of Analytics</a:t>
            </a:r>
            <a:r>
              <a:rPr sz="1100" kern="0" spc="8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LLC. Any</a:t>
            </a:r>
            <a:r>
              <a:rPr sz="1100" kern="0" spc="7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unauthorized sharing of</a:t>
            </a:r>
            <a:r>
              <a:rPr sz="1100" kern="0" spc="1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this</a:t>
            </a:r>
            <a:r>
              <a:rPr sz="1100" kern="0" spc="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material</a:t>
            </a:r>
            <a:r>
              <a:rPr sz="1100" kern="0" spc="14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is</a:t>
            </a:r>
            <a:r>
              <a:rPr sz="1100" kern="0" spc="6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prohibited and subject to</a:t>
            </a:r>
            <a:r>
              <a:rPr sz="1100" kern="0" spc="7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legal</a:t>
            </a:r>
            <a:r>
              <a:rPr sz="1100" kern="0" spc="6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action</a:t>
            </a:r>
            <a:r>
              <a:rPr sz="1100" kern="0" spc="6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under</a:t>
            </a:r>
            <a:r>
              <a:rPr sz="1100" kern="0" spc="12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breach of</a:t>
            </a:r>
            <a:r>
              <a:rPr sz="1100" kern="0" spc="9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IP and confidentiality clauses.</a:t>
            </a:r>
            <a:endParaRPr sz="1100" dirty="0">
              <a:latin typeface="Calibri"/>
              <a:ea typeface="Calibri"/>
              <a:cs typeface="Calibri"/>
            </a:endParaRPr>
          </a:p>
        </p:txBody>
      </p:sp>
      <p:pic>
        <p:nvPicPr>
          <p:cNvPr id="20" name="picture 20"/>
          <p:cNvPicPr>
            <a:picLocks noChangeAspect="1"/>
          </p:cNvPicPr>
          <p:nvPr/>
        </p:nvPicPr>
        <p:blipFill>
          <a:blip r:embed="rId2"/>
          <a:stretch>
            <a:fillRect/>
          </a:stretch>
        </p:blipFill>
        <p:spPr>
          <a:xfrm rot="21600000">
            <a:off x="9496425" y="6115050"/>
            <a:ext cx="2019300" cy="552450"/>
          </a:xfrm>
          <a:prstGeom prst="rect">
            <a:avLst/>
          </a:prstGeom>
        </p:spPr>
      </p:pic>
      <p:sp>
        <p:nvSpPr>
          <p:cNvPr id="5" name="TextBox 4"/>
          <p:cNvSpPr txBox="1"/>
          <p:nvPr/>
        </p:nvSpPr>
        <p:spPr>
          <a:xfrm>
            <a:off x="1090246" y="720969"/>
            <a:ext cx="10612316" cy="5632311"/>
          </a:xfrm>
          <a:prstGeom prst="rect">
            <a:avLst/>
          </a:prstGeom>
          <a:noFill/>
        </p:spPr>
        <p:txBody>
          <a:bodyPr wrap="square" numCol="1" rtlCol="0">
            <a:spAutoFit/>
          </a:bodyPr>
          <a:lstStyle/>
          <a:p>
            <a:r>
              <a:rPr lang="en-US" b="1" dirty="0" smtClean="0"/>
              <a:t>Introduction</a:t>
            </a:r>
          </a:p>
          <a:p>
            <a:endParaRPr lang="en-US" b="1" dirty="0" smtClean="0"/>
          </a:p>
          <a:p>
            <a:pPr>
              <a:buFont typeface="Arial" pitchFamily="34" charset="0"/>
              <a:buChar char="•"/>
            </a:pPr>
            <a:r>
              <a:rPr lang="en-US" b="1" dirty="0" smtClean="0"/>
              <a:t>Objective:</a:t>
            </a:r>
          </a:p>
          <a:p>
            <a:pPr>
              <a:buFont typeface="Arial" pitchFamily="34" charset="0"/>
              <a:buChar char="•"/>
            </a:pPr>
            <a:r>
              <a:rPr lang="en-US" dirty="0" smtClean="0"/>
              <a:t>Develop a robust customer segmentation model using clustering methods (K-Means, Hierarchical, DBSCAN).</a:t>
            </a:r>
          </a:p>
          <a:p>
            <a:pPr>
              <a:buFont typeface="Arial" pitchFamily="34" charset="0"/>
              <a:buChar char="•"/>
            </a:pPr>
            <a:r>
              <a:rPr lang="en-US" dirty="0" smtClean="0"/>
              <a:t>Predictive classifier to categorize customers based on purchasing behavior.</a:t>
            </a:r>
          </a:p>
          <a:p>
            <a:pPr>
              <a:buFont typeface="Arial" pitchFamily="34" charset="0"/>
              <a:buChar char="•"/>
            </a:pPr>
            <a:r>
              <a:rPr lang="en-US" dirty="0" smtClean="0"/>
              <a:t>Enable tailored marketing strategies, improved customer retention, and optimized inventory management.</a:t>
            </a:r>
          </a:p>
          <a:p>
            <a:pPr algn="just"/>
            <a:endParaRPr lang="en-US" dirty="0" smtClean="0"/>
          </a:p>
          <a:p>
            <a:pPr algn="just">
              <a:buFont typeface="Arial" pitchFamily="34" charset="0"/>
              <a:buChar char="•"/>
            </a:pPr>
            <a:r>
              <a:rPr lang="en-US" b="1" dirty="0" smtClean="0"/>
              <a:t>Project Overview:</a:t>
            </a:r>
          </a:p>
          <a:p>
            <a:pPr>
              <a:buFont typeface="Arial" pitchFamily="34" charset="0"/>
              <a:buChar char="•"/>
            </a:pPr>
            <a:r>
              <a:rPr lang="en-US" dirty="0" smtClean="0"/>
              <a:t>Focus on understanding customer purchase patterns.</a:t>
            </a:r>
          </a:p>
          <a:p>
            <a:pPr>
              <a:buFont typeface="Arial" pitchFamily="34" charset="0"/>
              <a:buChar char="•"/>
            </a:pPr>
            <a:r>
              <a:rPr lang="en-US" dirty="0" smtClean="0"/>
              <a:t>Segment customers and predict future behavior using machine learning.</a:t>
            </a:r>
          </a:p>
          <a:p>
            <a:pPr>
              <a:buFont typeface="Arial" pitchFamily="34" charset="0"/>
              <a:buChar char="•"/>
            </a:pPr>
            <a:r>
              <a:rPr lang="en-US" dirty="0" smtClean="0"/>
              <a:t>Goal: actionable insights for marketing and retention.</a:t>
            </a:r>
          </a:p>
          <a:p>
            <a:endParaRPr lang="en-US" dirty="0" smtClean="0"/>
          </a:p>
          <a:p>
            <a:pPr>
              <a:buFont typeface="Arial" pitchFamily="34" charset="0"/>
              <a:buChar char="•"/>
            </a:pPr>
            <a:r>
              <a:rPr lang="en-US" b="1" dirty="0" smtClean="0"/>
              <a:t>Benefits</a:t>
            </a:r>
          </a:p>
          <a:p>
            <a:pPr>
              <a:buFont typeface="Arial" pitchFamily="34" charset="0"/>
              <a:buChar char="•"/>
            </a:pPr>
            <a:r>
              <a:rPr lang="en-US" dirty="0" smtClean="0"/>
              <a:t>Enhanced customer segmentation → targeted marketing.</a:t>
            </a:r>
          </a:p>
          <a:p>
            <a:pPr>
              <a:buFont typeface="Arial" pitchFamily="34" charset="0"/>
              <a:buChar char="•"/>
            </a:pPr>
            <a:r>
              <a:rPr lang="en-US" dirty="0" smtClean="0"/>
              <a:t>Cost efficiency → focus on high-value segments.</a:t>
            </a:r>
          </a:p>
          <a:p>
            <a:pPr>
              <a:buFont typeface="Arial" pitchFamily="34" charset="0"/>
              <a:buChar char="•"/>
            </a:pPr>
            <a:r>
              <a:rPr lang="en-US" dirty="0" smtClean="0"/>
              <a:t>Improved customer satisfaction → personalized offers and communication.</a:t>
            </a:r>
          </a:p>
          <a:p>
            <a:endParaRPr lang="en-US" dirty="0" smtClean="0"/>
          </a:p>
          <a:p>
            <a:pPr algn="just"/>
            <a:endParaRPr lang="en-US" b="1"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9762" y="659422"/>
            <a:ext cx="7209692" cy="3139321"/>
          </a:xfrm>
          <a:prstGeom prst="rect">
            <a:avLst/>
          </a:prstGeom>
          <a:noFill/>
        </p:spPr>
        <p:txBody>
          <a:bodyPr wrap="square" rtlCol="0">
            <a:spAutoFit/>
          </a:bodyPr>
          <a:lstStyle/>
          <a:p>
            <a:pPr>
              <a:buFont typeface="Arial" pitchFamily="34" charset="0"/>
              <a:buChar char="•"/>
            </a:pPr>
            <a:r>
              <a:rPr lang="en-US" b="1" dirty="0" smtClean="0"/>
              <a:t>Deliverables</a:t>
            </a:r>
          </a:p>
          <a:p>
            <a:pPr>
              <a:buFont typeface="Arial" pitchFamily="34" charset="0"/>
              <a:buChar char="•"/>
            </a:pPr>
            <a:r>
              <a:rPr lang="en-US" dirty="0" smtClean="0"/>
              <a:t>Documented ML model for segmentation.</a:t>
            </a:r>
          </a:p>
          <a:p>
            <a:pPr>
              <a:buFont typeface="Arial" pitchFamily="34" charset="0"/>
              <a:buChar char="•"/>
            </a:pPr>
            <a:r>
              <a:rPr lang="en-US" dirty="0" smtClean="0"/>
              <a:t>Explanation of model, features, and preprocessing.</a:t>
            </a:r>
          </a:p>
          <a:p>
            <a:pPr>
              <a:buFont typeface="Arial" pitchFamily="34" charset="0"/>
              <a:buChar char="•"/>
            </a:pPr>
            <a:endParaRPr lang="en-US" dirty="0" smtClean="0"/>
          </a:p>
          <a:p>
            <a:r>
              <a:rPr lang="en-US" b="1" dirty="0" smtClean="0"/>
              <a:t>Methodology</a:t>
            </a:r>
          </a:p>
          <a:p>
            <a:r>
              <a:rPr lang="en-US" dirty="0" smtClean="0"/>
              <a:t>Exploratory Data Analysis (EDA) to understand behavior.</a:t>
            </a:r>
          </a:p>
          <a:p>
            <a:r>
              <a:rPr lang="en-US" dirty="0" smtClean="0"/>
              <a:t>Compare multiple clustering methods (K-Means, Hierarchical, DBSCAN).</a:t>
            </a:r>
          </a:p>
          <a:p>
            <a:r>
              <a:rPr lang="en-US" dirty="0" smtClean="0"/>
              <a:t>Feature importance analysis (</a:t>
            </a:r>
            <a:r>
              <a:rPr lang="en-US" dirty="0" err="1" smtClean="0"/>
              <a:t>Recency</a:t>
            </a:r>
            <a:r>
              <a:rPr lang="en-US" dirty="0" smtClean="0"/>
              <a:t>, Frequency, Monetary).</a:t>
            </a:r>
          </a:p>
          <a:p>
            <a:endParaRPr lang="en-US" dirty="0" smtClean="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nvGraphicFramePr>
        <p:xfrm>
          <a:off x="636954" y="921891"/>
          <a:ext cx="10045700" cy="54437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p:cNvSpPr txBox="1"/>
          <p:nvPr/>
        </p:nvSpPr>
        <p:spPr>
          <a:xfrm>
            <a:off x="4404946" y="342901"/>
            <a:ext cx="4088423" cy="646331"/>
          </a:xfrm>
          <a:prstGeom prst="rect">
            <a:avLst/>
          </a:prstGeom>
          <a:noFill/>
        </p:spPr>
        <p:txBody>
          <a:bodyPr wrap="square" rtlCol="0">
            <a:spAutoFit/>
          </a:bodyPr>
          <a:lstStyle/>
          <a:p>
            <a:pPr algn="just"/>
            <a:r>
              <a:rPr lang="en-US" sz="3600" b="1" dirty="0" smtClean="0"/>
              <a:t>WORK FLOW</a:t>
            </a:r>
            <a:endParaRPr lang="en-US" sz="36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5507" y="518747"/>
            <a:ext cx="6778870" cy="2031325"/>
          </a:xfrm>
          <a:prstGeom prst="rect">
            <a:avLst/>
          </a:prstGeom>
          <a:noFill/>
        </p:spPr>
        <p:txBody>
          <a:bodyPr wrap="square" rtlCol="0">
            <a:spAutoFit/>
          </a:bodyPr>
          <a:lstStyle/>
          <a:p>
            <a:endParaRPr lang="en-US" b="1" dirty="0" smtClean="0"/>
          </a:p>
          <a:p>
            <a:pPr algn="just"/>
            <a:r>
              <a:rPr lang="en-US" b="1" dirty="0" smtClean="0"/>
              <a:t>Dataset overview</a:t>
            </a:r>
          </a:p>
          <a:p>
            <a:pPr algn="just">
              <a:buFont typeface="Arial" pitchFamily="34" charset="0"/>
              <a:buChar char="•"/>
            </a:pPr>
            <a:r>
              <a:rPr lang="en-US" dirty="0" smtClean="0"/>
              <a:t>This dataset consist of transaction –level data collected </a:t>
            </a:r>
            <a:r>
              <a:rPr lang="en-US" dirty="0" err="1" smtClean="0"/>
              <a:t>fron</a:t>
            </a:r>
            <a:r>
              <a:rPr lang="en-US" dirty="0" smtClean="0"/>
              <a:t> a </a:t>
            </a:r>
            <a:r>
              <a:rPr lang="en-US" dirty="0" err="1" smtClean="0"/>
              <a:t>reatil</a:t>
            </a:r>
            <a:r>
              <a:rPr lang="en-US" dirty="0" smtClean="0"/>
              <a:t> store.</a:t>
            </a:r>
          </a:p>
          <a:p>
            <a:pPr algn="just"/>
            <a:endParaRPr lang="en-US" dirty="0" smtClean="0"/>
          </a:p>
          <a:p>
            <a:pPr algn="just">
              <a:buFont typeface="Arial" pitchFamily="34" charset="0"/>
              <a:buChar char="•"/>
            </a:pPr>
            <a:r>
              <a:rPr lang="en-US" dirty="0" smtClean="0"/>
              <a:t>There are 541909 rows and 8 columns containing details about purchases made by customer.</a:t>
            </a:r>
            <a:endParaRPr lang="en-US" dirty="0"/>
          </a:p>
        </p:txBody>
      </p:sp>
      <p:pic>
        <p:nvPicPr>
          <p:cNvPr id="3" name="Picture 2" descr="Screenshot 2025-12-02 003123.png"/>
          <p:cNvPicPr>
            <a:picLocks noChangeAspect="1"/>
          </p:cNvPicPr>
          <p:nvPr/>
        </p:nvPicPr>
        <p:blipFill>
          <a:blip r:embed="rId2"/>
          <a:stretch>
            <a:fillRect/>
          </a:stretch>
        </p:blipFill>
        <p:spPr>
          <a:xfrm>
            <a:off x="7737231" y="765864"/>
            <a:ext cx="4193931" cy="4843628"/>
          </a:xfrm>
          <a:prstGeom prst="rect">
            <a:avLst/>
          </a:prstGeom>
        </p:spPr>
      </p:pic>
      <p:sp>
        <p:nvSpPr>
          <p:cNvPr id="4" name="TextBox 3"/>
          <p:cNvSpPr txBox="1"/>
          <p:nvPr/>
        </p:nvSpPr>
        <p:spPr>
          <a:xfrm>
            <a:off x="114299" y="2708029"/>
            <a:ext cx="6875585" cy="1477328"/>
          </a:xfrm>
          <a:prstGeom prst="rect">
            <a:avLst/>
          </a:prstGeom>
          <a:noFill/>
        </p:spPr>
        <p:txBody>
          <a:bodyPr wrap="square" rtlCol="0">
            <a:spAutoFit/>
          </a:bodyPr>
          <a:lstStyle/>
          <a:p>
            <a:endParaRPr lang="en-US" b="1" dirty="0" smtClean="0"/>
          </a:p>
          <a:p>
            <a:pPr algn="just"/>
            <a:r>
              <a:rPr lang="en-US" b="1" dirty="0" smtClean="0"/>
              <a:t>Data Source:</a:t>
            </a:r>
          </a:p>
          <a:p>
            <a:pPr algn="just"/>
            <a:r>
              <a:rPr lang="en-US" dirty="0" smtClean="0"/>
              <a:t>The data is stored in CSV file (data.csv),with columns  like Invoice No, </a:t>
            </a:r>
            <a:r>
              <a:rPr lang="en-US" dirty="0" err="1" smtClean="0"/>
              <a:t>StockCode</a:t>
            </a:r>
            <a:r>
              <a:rPr lang="en-US" dirty="0" smtClean="0"/>
              <a:t> Description, Quantity, </a:t>
            </a:r>
            <a:r>
              <a:rPr lang="en-US" dirty="0" err="1" smtClean="0"/>
              <a:t>InvoiceDate,UnitPrice</a:t>
            </a:r>
            <a:r>
              <a:rPr lang="en-US" dirty="0" smtClean="0"/>
              <a:t>, </a:t>
            </a:r>
            <a:r>
              <a:rPr lang="en-US" dirty="0" err="1" smtClean="0"/>
              <a:t>CustomerID</a:t>
            </a:r>
            <a:r>
              <a:rPr lang="en-US" dirty="0" smtClean="0"/>
              <a:t>, Country.</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7882" y="552364"/>
            <a:ext cx="11259671" cy="5078313"/>
          </a:xfrm>
          <a:prstGeom prst="rect">
            <a:avLst/>
          </a:prstGeom>
          <a:noFill/>
        </p:spPr>
        <p:txBody>
          <a:bodyPr wrap="square" rtlCol="0">
            <a:spAutoFit/>
          </a:bodyPr>
          <a:lstStyle/>
          <a:p>
            <a:pPr algn="just"/>
            <a:r>
              <a:rPr lang="en-US" b="1" dirty="0" smtClean="0"/>
              <a:t>Key Columns</a:t>
            </a:r>
          </a:p>
          <a:p>
            <a:pPr algn="just"/>
            <a:endParaRPr lang="en-US" b="1" dirty="0" smtClean="0"/>
          </a:p>
          <a:p>
            <a:pPr algn="just">
              <a:buFont typeface="Arial" pitchFamily="34" charset="0"/>
              <a:buChar char="•"/>
            </a:pPr>
            <a:r>
              <a:rPr lang="en-US" dirty="0" err="1" smtClean="0"/>
              <a:t>InvoiceNo</a:t>
            </a:r>
            <a:r>
              <a:rPr lang="en-US" dirty="0" smtClean="0"/>
              <a:t> : A unique identifier assigned to each invoice, representing a transaction of order.</a:t>
            </a:r>
          </a:p>
          <a:p>
            <a:pPr algn="just"/>
            <a:endParaRPr lang="en-US" dirty="0" smtClean="0"/>
          </a:p>
          <a:p>
            <a:pPr algn="just">
              <a:buFont typeface="Arial" pitchFamily="34" charset="0"/>
              <a:buChar char="•"/>
            </a:pPr>
            <a:r>
              <a:rPr lang="en-US" dirty="0" err="1" smtClean="0"/>
              <a:t>StockCode</a:t>
            </a:r>
            <a:r>
              <a:rPr lang="en-US" dirty="0" smtClean="0"/>
              <a:t> : A unique product code assigned to items sold , enabling product identification and tracking.</a:t>
            </a:r>
          </a:p>
          <a:p>
            <a:pPr algn="just"/>
            <a:endParaRPr lang="en-US" dirty="0" smtClean="0"/>
          </a:p>
          <a:p>
            <a:pPr algn="just">
              <a:buFont typeface="Arial" pitchFamily="34" charset="0"/>
              <a:buChar char="•"/>
            </a:pPr>
            <a:r>
              <a:rPr lang="en-US" dirty="0" smtClean="0"/>
              <a:t>Description : Provides details about the product ,aiding in understanding its nature and purpose.</a:t>
            </a:r>
          </a:p>
          <a:p>
            <a:pPr algn="just">
              <a:buFont typeface="Arial" pitchFamily="34" charset="0"/>
              <a:buChar char="•"/>
            </a:pPr>
            <a:endParaRPr lang="en-US" dirty="0" smtClean="0"/>
          </a:p>
          <a:p>
            <a:pPr algn="just">
              <a:buFont typeface="Arial" pitchFamily="34" charset="0"/>
              <a:buChar char="•"/>
            </a:pPr>
            <a:r>
              <a:rPr lang="en-US" dirty="0" smtClean="0"/>
              <a:t>Quantity : Specifies the number of items purchased or returned in a transaction. Negative values indicates returns.</a:t>
            </a:r>
          </a:p>
          <a:p>
            <a:pPr algn="just">
              <a:buFont typeface="Arial" pitchFamily="34" charset="0"/>
              <a:buChar char="•"/>
            </a:pPr>
            <a:endParaRPr lang="en-US" dirty="0" smtClean="0"/>
          </a:p>
          <a:p>
            <a:pPr algn="just">
              <a:buFont typeface="Arial" pitchFamily="34" charset="0"/>
              <a:buChar char="•"/>
            </a:pPr>
            <a:r>
              <a:rPr lang="en-US" dirty="0" err="1" smtClean="0"/>
              <a:t>InoviceDate</a:t>
            </a:r>
            <a:r>
              <a:rPr lang="en-US" dirty="0" smtClean="0"/>
              <a:t> : Records the exact date and time when a transaction occurred, useful for time-based analysis.</a:t>
            </a:r>
          </a:p>
          <a:p>
            <a:pPr algn="just">
              <a:buFont typeface="Arial" pitchFamily="34" charset="0"/>
              <a:buChar char="•"/>
            </a:pPr>
            <a:endParaRPr lang="en-US" dirty="0" smtClean="0"/>
          </a:p>
          <a:p>
            <a:pPr algn="just">
              <a:buFont typeface="Arial" pitchFamily="34" charset="0"/>
              <a:buChar char="•"/>
            </a:pPr>
            <a:r>
              <a:rPr lang="en-US" dirty="0" smtClean="0"/>
              <a:t>Unit Price : Represents the price per unit of a product in the transaction. Used to calculate sales revenue.</a:t>
            </a:r>
          </a:p>
          <a:p>
            <a:pPr algn="just">
              <a:buFont typeface="Arial" pitchFamily="34" charset="0"/>
              <a:buChar char="•"/>
            </a:pPr>
            <a:endParaRPr lang="en-US" dirty="0" smtClean="0"/>
          </a:p>
          <a:p>
            <a:pPr algn="just">
              <a:buFont typeface="Arial" pitchFamily="34" charset="0"/>
              <a:buChar char="•"/>
            </a:pPr>
            <a:r>
              <a:rPr lang="en-US" dirty="0" err="1" smtClean="0"/>
              <a:t>CustomerID</a:t>
            </a:r>
            <a:r>
              <a:rPr lang="en-US" dirty="0" smtClean="0"/>
              <a:t> : A unique identifier for each customer, useful for tracking buying </a:t>
            </a:r>
            <a:r>
              <a:rPr lang="en-US" dirty="0" err="1" smtClean="0"/>
              <a:t>behaviour</a:t>
            </a:r>
            <a:r>
              <a:rPr lang="en-US" dirty="0" smtClean="0"/>
              <a:t> and segmentation.</a:t>
            </a:r>
          </a:p>
          <a:p>
            <a:pPr algn="just">
              <a:buFont typeface="Arial" pitchFamily="34" charset="0"/>
              <a:buChar char="•"/>
            </a:pPr>
            <a:endParaRPr lang="en-US" dirty="0" smtClean="0"/>
          </a:p>
          <a:p>
            <a:pPr algn="just">
              <a:buFont typeface="Arial" pitchFamily="34" charset="0"/>
              <a:buChar char="•"/>
            </a:pPr>
            <a:r>
              <a:rPr lang="en-US" dirty="0" smtClean="0"/>
              <a:t>Country : Indicates the geographical location of the customer, helping in regional sales analysis.</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57400" y="597877"/>
            <a:ext cx="184731" cy="369332"/>
          </a:xfrm>
          <a:prstGeom prst="rect">
            <a:avLst/>
          </a:prstGeom>
          <a:noFill/>
        </p:spPr>
        <p:txBody>
          <a:bodyPr wrap="none" rtlCol="0">
            <a:spAutoFit/>
          </a:bodyPr>
          <a:lstStyle/>
          <a:p>
            <a:endParaRPr lang="en-US"/>
          </a:p>
        </p:txBody>
      </p:sp>
      <p:sp>
        <p:nvSpPr>
          <p:cNvPr id="3" name="TextBox 2"/>
          <p:cNvSpPr txBox="1"/>
          <p:nvPr/>
        </p:nvSpPr>
        <p:spPr>
          <a:xfrm>
            <a:off x="597877" y="694594"/>
            <a:ext cx="11264622" cy="3262432"/>
          </a:xfrm>
          <a:prstGeom prst="rect">
            <a:avLst/>
          </a:prstGeom>
          <a:noFill/>
        </p:spPr>
        <p:txBody>
          <a:bodyPr wrap="square" rtlCol="0">
            <a:spAutoFit/>
          </a:bodyPr>
          <a:lstStyle/>
          <a:p>
            <a:r>
              <a:rPr lang="en-US" sz="1400" b="1" dirty="0" smtClean="0"/>
              <a:t>Data Cleaning and Preprocessing</a:t>
            </a:r>
          </a:p>
          <a:p>
            <a:endParaRPr lang="en-US" sz="1400" b="1" dirty="0" smtClean="0"/>
          </a:p>
          <a:p>
            <a:r>
              <a:rPr lang="en-US" sz="1400" b="1" dirty="0" smtClean="0"/>
              <a:t>Handling Missing Values :</a:t>
            </a:r>
          </a:p>
          <a:p>
            <a:r>
              <a:rPr lang="en-US" sz="1400" dirty="0" smtClean="0"/>
              <a:t>The dataset contained missing values in:</a:t>
            </a:r>
          </a:p>
          <a:p>
            <a:r>
              <a:rPr lang="en-US" sz="1400" b="1" dirty="0" smtClean="0"/>
              <a:t>Description</a:t>
            </a:r>
            <a:r>
              <a:rPr lang="en-US" sz="1400" dirty="0" smtClean="0"/>
              <a:t> column → 1,454 missing entries</a:t>
            </a:r>
          </a:p>
          <a:p>
            <a:r>
              <a:rPr lang="en-US" sz="1400" b="1" dirty="0" err="1" smtClean="0"/>
              <a:t>CustomerID</a:t>
            </a:r>
            <a:r>
              <a:rPr lang="en-US" sz="1400" dirty="0" smtClean="0"/>
              <a:t> column → 135,080 missing entries</a:t>
            </a:r>
          </a:p>
          <a:p>
            <a:r>
              <a:rPr lang="en-US" sz="1400" dirty="0" smtClean="0"/>
              <a:t>Rows with missing </a:t>
            </a:r>
            <a:r>
              <a:rPr lang="en-US" sz="1400" dirty="0" err="1" smtClean="0"/>
              <a:t>CustomerID</a:t>
            </a:r>
            <a:r>
              <a:rPr lang="en-US" sz="1400" dirty="0" smtClean="0"/>
              <a:t> were removed because customer identification is essential for RFM analysis</a:t>
            </a:r>
            <a:r>
              <a:rPr lang="en-US" dirty="0" smtClean="0"/>
              <a:t>.</a:t>
            </a:r>
          </a:p>
          <a:p>
            <a:endParaRPr lang="en-US" dirty="0" smtClean="0"/>
          </a:p>
          <a:p>
            <a:endParaRPr lang="en-US" dirty="0" smtClean="0"/>
          </a:p>
          <a:p>
            <a:endParaRPr lang="en-US" dirty="0" smtClean="0"/>
          </a:p>
          <a:p>
            <a:endParaRPr lang="en-US" dirty="0" smtClean="0"/>
          </a:p>
          <a:p>
            <a:r>
              <a:rPr lang="en-US" sz="1400" dirty="0" smtClean="0"/>
              <a:t>This reduced the dataset from </a:t>
            </a:r>
            <a:r>
              <a:rPr lang="en-US" sz="1400" b="1" dirty="0" smtClean="0"/>
              <a:t>541,909 rows → 406,829 rows</a:t>
            </a:r>
            <a:r>
              <a:rPr lang="en-US" sz="1400" dirty="0" smtClean="0"/>
              <a:t>.</a:t>
            </a:r>
          </a:p>
          <a:p>
            <a:endParaRPr lang="en-US" dirty="0"/>
          </a:p>
        </p:txBody>
      </p:sp>
      <p:sp>
        <p:nvSpPr>
          <p:cNvPr id="6" name="TextBox 5"/>
          <p:cNvSpPr txBox="1"/>
          <p:nvPr/>
        </p:nvSpPr>
        <p:spPr>
          <a:xfrm>
            <a:off x="578535" y="3784210"/>
            <a:ext cx="10873740" cy="4955203"/>
          </a:xfrm>
          <a:prstGeom prst="rect">
            <a:avLst/>
          </a:prstGeom>
          <a:noFill/>
        </p:spPr>
        <p:txBody>
          <a:bodyPr wrap="square" rtlCol="0">
            <a:spAutoFit/>
          </a:bodyPr>
          <a:lstStyle/>
          <a:p>
            <a:pPr algn="just"/>
            <a:r>
              <a:rPr lang="en-US" sz="1400" b="1" dirty="0" smtClean="0"/>
              <a:t>Data Type Conversion:</a:t>
            </a:r>
          </a:p>
          <a:p>
            <a:pPr algn="just"/>
            <a:r>
              <a:rPr lang="en-US" sz="1400" dirty="0" smtClean="0"/>
              <a:t>The </a:t>
            </a:r>
            <a:r>
              <a:rPr lang="en-US" sz="1400" dirty="0" err="1" smtClean="0"/>
              <a:t>CustomerID</a:t>
            </a:r>
            <a:r>
              <a:rPr lang="en-US" sz="1400" dirty="0" smtClean="0"/>
              <a:t> column was converted from a float type to a string for better processing and to main consistency.</a:t>
            </a:r>
          </a:p>
          <a:p>
            <a:r>
              <a:rPr lang="en-US" sz="1400" b="1" dirty="0" smtClean="0"/>
              <a:t>Handling Invalid Transactions</a:t>
            </a:r>
          </a:p>
          <a:p>
            <a:r>
              <a:rPr lang="en-US" sz="1400" dirty="0" smtClean="0"/>
              <a:t>Removed transactions where Quantity ≤ 0, as negative values indicate returns or errors.</a:t>
            </a:r>
          </a:p>
          <a:p>
            <a:r>
              <a:rPr lang="en-US" sz="1400" b="1" dirty="0" smtClean="0"/>
              <a:t>Fixing Date Format</a:t>
            </a:r>
          </a:p>
          <a:p>
            <a:r>
              <a:rPr lang="en-US" sz="1400" dirty="0" smtClean="0"/>
              <a:t>Converted </a:t>
            </a:r>
            <a:r>
              <a:rPr lang="en-US" sz="1400" dirty="0" err="1" smtClean="0"/>
              <a:t>InvoiceDate</a:t>
            </a:r>
            <a:r>
              <a:rPr lang="en-US" sz="1400" dirty="0" smtClean="0"/>
              <a:t> to a proper </a:t>
            </a:r>
            <a:r>
              <a:rPr lang="en-US" sz="1400" dirty="0" err="1" smtClean="0"/>
              <a:t>datetime</a:t>
            </a:r>
            <a:r>
              <a:rPr lang="en-US" sz="1400" dirty="0" smtClean="0"/>
              <a:t> format using errors='coerce'.</a:t>
            </a:r>
            <a:br>
              <a:rPr lang="en-US" sz="1400" dirty="0" smtClean="0"/>
            </a:br>
            <a:r>
              <a:rPr lang="en-US" sz="1400" dirty="0" smtClean="0"/>
              <a:t>This ensures accurate calculation of </a:t>
            </a:r>
            <a:r>
              <a:rPr lang="en-US" sz="1400" dirty="0" err="1" smtClean="0"/>
              <a:t>Recency</a:t>
            </a:r>
            <a:r>
              <a:rPr lang="en-US" sz="1400" dirty="0" smtClean="0"/>
              <a:t>.</a:t>
            </a:r>
          </a:p>
          <a:p>
            <a:r>
              <a:rPr lang="en-US" sz="1400" b="1" dirty="0" smtClean="0"/>
              <a:t>Removing Duplicate Records</a:t>
            </a:r>
          </a:p>
          <a:p>
            <a:r>
              <a:rPr lang="en-US" sz="1400" dirty="0" smtClean="0"/>
              <a:t>Duplicate rows were dropped to maintain data consistency and avoid double counting</a:t>
            </a:r>
            <a:r>
              <a:rPr lang="en-US" dirty="0" smtClean="0"/>
              <a:t>.</a:t>
            </a:r>
          </a:p>
          <a:p>
            <a:r>
              <a:rPr lang="en-US" sz="1400" b="1" dirty="0" smtClean="0"/>
              <a:t>Adding Monetary Value</a:t>
            </a:r>
          </a:p>
          <a:p>
            <a:r>
              <a:rPr lang="en-US" sz="1400" dirty="0" smtClean="0"/>
              <a:t>Created a new feature </a:t>
            </a:r>
            <a:r>
              <a:rPr lang="en-US" sz="1400" b="1" dirty="0" err="1" smtClean="0"/>
              <a:t>TotalPrice</a:t>
            </a:r>
            <a:r>
              <a:rPr lang="en-US" sz="1400" dirty="0" smtClean="0"/>
              <a:t> = </a:t>
            </a:r>
            <a:r>
              <a:rPr lang="en-US" sz="1400" i="1" dirty="0" smtClean="0"/>
              <a:t>Quantity × </a:t>
            </a:r>
            <a:r>
              <a:rPr lang="en-US" sz="1400" i="1" dirty="0" err="1" smtClean="0"/>
              <a:t>UnitPrice</a:t>
            </a:r>
            <a:r>
              <a:rPr lang="en-US" sz="1400" dirty="0" smtClean="0"/>
              <a:t>.</a:t>
            </a:r>
            <a:br>
              <a:rPr lang="en-US" sz="1400" dirty="0" smtClean="0"/>
            </a:br>
            <a:r>
              <a:rPr lang="en-US" sz="1400" dirty="0" smtClean="0"/>
              <a:t>This represents the monetary value of each transaction, required for RFM analysis.</a:t>
            </a:r>
          </a:p>
          <a:p>
            <a:r>
              <a:rPr lang="en-US" sz="1400" dirty="0" smtClean="0"/>
              <a:t>After all cleaning steps, the dataset was reduced to:</a:t>
            </a:r>
            <a:br>
              <a:rPr lang="en-US" sz="1400" dirty="0" smtClean="0"/>
            </a:br>
            <a:r>
              <a:rPr lang="en-US" sz="1400" b="1" dirty="0" smtClean="0"/>
              <a:t>392,732 rows × 9 columns</a:t>
            </a:r>
            <a:endParaRPr lang="en-US" sz="1400" dirty="0" smtClean="0"/>
          </a:p>
          <a:p>
            <a:endParaRPr lang="en-US" dirty="0" smtClean="0"/>
          </a:p>
          <a:p>
            <a:endParaRPr lang="en-US" dirty="0" smtClean="0"/>
          </a:p>
          <a:p>
            <a:endParaRPr lang="en-US" dirty="0" smtClean="0"/>
          </a:p>
          <a:p>
            <a:endParaRPr lang="en-US" dirty="0" smtClean="0"/>
          </a:p>
          <a:p>
            <a:pPr algn="just"/>
            <a:endParaRPr lang="en-US" dirty="0" smtClean="0"/>
          </a:p>
          <a:p>
            <a:pPr algn="just"/>
            <a:endParaRPr lang="en-US" dirty="0" smtClean="0"/>
          </a:p>
        </p:txBody>
      </p:sp>
      <p:pic>
        <p:nvPicPr>
          <p:cNvPr id="7" name="Picture 6" descr="Screenshot 2025-12-02 140416.png"/>
          <p:cNvPicPr>
            <a:picLocks noChangeAspect="1"/>
          </p:cNvPicPr>
          <p:nvPr/>
        </p:nvPicPr>
        <p:blipFill>
          <a:blip r:embed="rId2"/>
          <a:stretch>
            <a:fillRect/>
          </a:stretch>
        </p:blipFill>
        <p:spPr>
          <a:xfrm>
            <a:off x="3516924" y="2730314"/>
            <a:ext cx="5767754" cy="90500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0438" y="553915"/>
            <a:ext cx="3291350" cy="923330"/>
          </a:xfrm>
          <a:prstGeom prst="rect">
            <a:avLst/>
          </a:prstGeom>
          <a:noFill/>
        </p:spPr>
        <p:txBody>
          <a:bodyPr wrap="none" rtlCol="0">
            <a:spAutoFit/>
          </a:bodyPr>
          <a:lstStyle/>
          <a:p>
            <a:r>
              <a:rPr lang="en-US" b="1" dirty="0" smtClean="0"/>
              <a:t>EDA:</a:t>
            </a:r>
          </a:p>
          <a:p>
            <a:pPr>
              <a:buFont typeface="Arial" pitchFamily="34" charset="0"/>
              <a:buChar char="•"/>
            </a:pPr>
            <a:r>
              <a:rPr lang="en-US" dirty="0" smtClean="0"/>
              <a:t>Top 10 Best-Selling Products:</a:t>
            </a:r>
          </a:p>
          <a:p>
            <a:endParaRPr lang="en-US" b="1" dirty="0"/>
          </a:p>
        </p:txBody>
      </p:sp>
      <p:pic>
        <p:nvPicPr>
          <p:cNvPr id="4" name="Picture 3" descr="Screenshot 2025-12-02 151851.png"/>
          <p:cNvPicPr>
            <a:picLocks noChangeAspect="1"/>
          </p:cNvPicPr>
          <p:nvPr/>
        </p:nvPicPr>
        <p:blipFill>
          <a:blip r:embed="rId2"/>
          <a:stretch>
            <a:fillRect/>
          </a:stretch>
        </p:blipFill>
        <p:spPr>
          <a:xfrm>
            <a:off x="2220712" y="1264896"/>
            <a:ext cx="7732179" cy="3679535"/>
          </a:xfrm>
          <a:prstGeom prst="rect">
            <a:avLst/>
          </a:prstGeom>
        </p:spPr>
      </p:pic>
      <p:sp>
        <p:nvSpPr>
          <p:cNvPr id="7" name="TextBox 6"/>
          <p:cNvSpPr txBox="1"/>
          <p:nvPr/>
        </p:nvSpPr>
        <p:spPr>
          <a:xfrm>
            <a:off x="740796" y="4950069"/>
            <a:ext cx="8989962" cy="1877437"/>
          </a:xfrm>
          <a:prstGeom prst="rect">
            <a:avLst/>
          </a:prstGeom>
          <a:noFill/>
        </p:spPr>
        <p:txBody>
          <a:bodyPr wrap="none" rtlCol="0">
            <a:spAutoFit/>
          </a:bodyPr>
          <a:lstStyle/>
          <a:p>
            <a:pPr>
              <a:buFont typeface="Arial" pitchFamily="34" charset="0"/>
              <a:buChar char="•"/>
            </a:pPr>
            <a:r>
              <a:rPr lang="en-US" sz="1400" dirty="0" smtClean="0"/>
              <a:t>This bar chart shows the highest-selling products based on total quantity purchased.</a:t>
            </a:r>
          </a:p>
          <a:p>
            <a:pPr>
              <a:buFont typeface="Arial" pitchFamily="34" charset="0"/>
              <a:buChar char="•"/>
            </a:pPr>
            <a:endParaRPr lang="en-US" sz="1400" dirty="0" smtClean="0"/>
          </a:p>
          <a:p>
            <a:pPr>
              <a:buFont typeface="Arial" pitchFamily="34" charset="0"/>
              <a:buChar char="•"/>
            </a:pPr>
            <a:r>
              <a:rPr lang="en-US" sz="1400" dirty="0" smtClean="0"/>
              <a:t> "PAPER CRAFT, LITTLE BIRDIE" is the top-selling item with over 80,000 units sold.</a:t>
            </a:r>
          </a:p>
          <a:p>
            <a:pPr>
              <a:buFont typeface="Arial" pitchFamily="34" charset="0"/>
              <a:buChar char="•"/>
            </a:pPr>
            <a:endParaRPr lang="en-US" sz="1400" dirty="0" smtClean="0"/>
          </a:p>
          <a:p>
            <a:pPr>
              <a:buFont typeface="Arial" pitchFamily="34" charset="0"/>
              <a:buChar char="•"/>
            </a:pPr>
            <a:r>
              <a:rPr lang="en-US" sz="1400" dirty="0" smtClean="0"/>
              <a:t>Many top products are low-cost, high-volume gift items, indicating strong demand in small decorative products.</a:t>
            </a:r>
          </a:p>
          <a:p>
            <a:pPr>
              <a:buFont typeface="Arial" pitchFamily="34" charset="0"/>
              <a:buChar char="•"/>
            </a:pPr>
            <a:endParaRPr lang="en-US" sz="1400" dirty="0" smtClean="0"/>
          </a:p>
          <a:p>
            <a:pPr>
              <a:buFont typeface="Arial" pitchFamily="34" charset="0"/>
              <a:buChar char="•"/>
            </a:pPr>
            <a:r>
              <a:rPr lang="en-US" sz="1400" dirty="0" smtClean="0"/>
              <a:t>Helps identify inventory priorities and fast-moving items.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3628" y="369277"/>
            <a:ext cx="2829685" cy="369332"/>
          </a:xfrm>
          <a:prstGeom prst="rect">
            <a:avLst/>
          </a:prstGeom>
          <a:noFill/>
        </p:spPr>
        <p:txBody>
          <a:bodyPr wrap="none" rtlCol="0">
            <a:spAutoFit/>
          </a:bodyPr>
          <a:lstStyle/>
          <a:p>
            <a:pPr>
              <a:buFont typeface="Arial" pitchFamily="34" charset="0"/>
              <a:buChar char="•"/>
            </a:pPr>
            <a:r>
              <a:rPr lang="en-US" dirty="0" smtClean="0"/>
              <a:t>Monthly Purchase Trend:</a:t>
            </a:r>
            <a:endParaRPr lang="en-US" dirty="0"/>
          </a:p>
        </p:txBody>
      </p:sp>
      <p:pic>
        <p:nvPicPr>
          <p:cNvPr id="3" name="Picture 2" descr="Screenshot 2025-12-02 151922.png"/>
          <p:cNvPicPr>
            <a:picLocks noChangeAspect="1"/>
          </p:cNvPicPr>
          <p:nvPr/>
        </p:nvPicPr>
        <p:blipFill>
          <a:blip r:embed="rId2"/>
          <a:srcRect t="8960"/>
          <a:stretch>
            <a:fillRect/>
          </a:stretch>
        </p:blipFill>
        <p:spPr>
          <a:xfrm>
            <a:off x="1930459" y="731521"/>
            <a:ext cx="8249802" cy="3474719"/>
          </a:xfrm>
          <a:prstGeom prst="rect">
            <a:avLst/>
          </a:prstGeom>
        </p:spPr>
      </p:pic>
      <p:sp>
        <p:nvSpPr>
          <p:cNvPr id="4" name="TextBox 3"/>
          <p:cNvSpPr txBox="1"/>
          <p:nvPr/>
        </p:nvSpPr>
        <p:spPr>
          <a:xfrm>
            <a:off x="650240" y="4500880"/>
            <a:ext cx="8493800" cy="2092881"/>
          </a:xfrm>
          <a:prstGeom prst="rect">
            <a:avLst/>
          </a:prstGeom>
          <a:noFill/>
        </p:spPr>
        <p:txBody>
          <a:bodyPr wrap="none" rtlCol="0">
            <a:spAutoFit/>
          </a:bodyPr>
          <a:lstStyle/>
          <a:p>
            <a:pPr algn="just">
              <a:buFont typeface="Arial" pitchFamily="34" charset="0"/>
              <a:buChar char="•"/>
            </a:pPr>
            <a:r>
              <a:rPr lang="en-US" sz="1600" dirty="0" smtClean="0"/>
              <a:t>Shows month-wise total quantity purchased between </a:t>
            </a:r>
            <a:r>
              <a:rPr lang="en-US" sz="1600" b="1" dirty="0" smtClean="0"/>
              <a:t>2010–2011</a:t>
            </a:r>
            <a:r>
              <a:rPr lang="en-US" sz="1600" dirty="0" smtClean="0"/>
              <a:t>.</a:t>
            </a:r>
          </a:p>
          <a:p>
            <a:pPr algn="just">
              <a:buFont typeface="Arial" pitchFamily="34" charset="0"/>
              <a:buChar char="•"/>
            </a:pPr>
            <a:endParaRPr lang="en-US" sz="1600" dirty="0" smtClean="0"/>
          </a:p>
          <a:p>
            <a:pPr algn="just">
              <a:buFont typeface="Arial" pitchFamily="34" charset="0"/>
              <a:buChar char="•"/>
            </a:pPr>
            <a:r>
              <a:rPr lang="en-US" sz="1600" dirty="0" smtClean="0"/>
              <a:t>Clear rise in purchasing activity toward the end of 2011.</a:t>
            </a:r>
          </a:p>
          <a:p>
            <a:pPr algn="just"/>
            <a:endParaRPr lang="en-US" sz="1600" dirty="0" smtClean="0"/>
          </a:p>
          <a:p>
            <a:pPr algn="just">
              <a:buFont typeface="Arial" pitchFamily="34" charset="0"/>
              <a:buChar char="•"/>
            </a:pPr>
            <a:r>
              <a:rPr lang="en-US" sz="1600" dirty="0" smtClean="0"/>
              <a:t>Biggest spike observed in November 2011, suggesting seasonal trends (holiday shopping).</a:t>
            </a:r>
          </a:p>
          <a:p>
            <a:pPr algn="just">
              <a:buFont typeface="Arial" pitchFamily="34" charset="0"/>
              <a:buChar char="•"/>
            </a:pPr>
            <a:endParaRPr lang="en-US" sz="1600" dirty="0" smtClean="0"/>
          </a:p>
          <a:p>
            <a:pPr algn="just">
              <a:buFont typeface="Arial" pitchFamily="34" charset="0"/>
              <a:buChar char="•"/>
            </a:pPr>
            <a:r>
              <a:rPr lang="en-US" sz="1600" dirty="0" smtClean="0"/>
              <a:t>Helps organizations in seasonal forecasting, stock planning, and marketing campaigns.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619760"/>
            <a:ext cx="2497222" cy="369332"/>
          </a:xfrm>
          <a:prstGeom prst="rect">
            <a:avLst/>
          </a:prstGeom>
          <a:noFill/>
        </p:spPr>
        <p:txBody>
          <a:bodyPr wrap="none" rtlCol="0">
            <a:spAutoFit/>
          </a:bodyPr>
          <a:lstStyle/>
          <a:p>
            <a:r>
              <a:rPr lang="en-US" b="1" dirty="0" smtClean="0"/>
              <a:t>Correlation Analysis:</a:t>
            </a:r>
            <a:endParaRPr lang="en-US" b="1" dirty="0"/>
          </a:p>
        </p:txBody>
      </p:sp>
      <p:pic>
        <p:nvPicPr>
          <p:cNvPr id="3" name="Picture 2" descr="Screenshot 2025-12-02 151951.png"/>
          <p:cNvPicPr>
            <a:picLocks noChangeAspect="1"/>
          </p:cNvPicPr>
          <p:nvPr/>
        </p:nvPicPr>
        <p:blipFill>
          <a:blip r:embed="rId2"/>
          <a:stretch>
            <a:fillRect/>
          </a:stretch>
        </p:blipFill>
        <p:spPr>
          <a:xfrm>
            <a:off x="2200713" y="1005183"/>
            <a:ext cx="7363853" cy="3231538"/>
          </a:xfrm>
          <a:prstGeom prst="rect">
            <a:avLst/>
          </a:prstGeom>
        </p:spPr>
      </p:pic>
      <p:sp>
        <p:nvSpPr>
          <p:cNvPr id="4" name="TextBox 3"/>
          <p:cNvSpPr txBox="1"/>
          <p:nvPr/>
        </p:nvSpPr>
        <p:spPr>
          <a:xfrm>
            <a:off x="833121" y="4826000"/>
            <a:ext cx="11358880" cy="1600438"/>
          </a:xfrm>
          <a:prstGeom prst="rect">
            <a:avLst/>
          </a:prstGeom>
          <a:noFill/>
        </p:spPr>
        <p:txBody>
          <a:bodyPr wrap="square" rtlCol="0">
            <a:spAutoFit/>
          </a:bodyPr>
          <a:lstStyle/>
          <a:p>
            <a:pPr algn="just">
              <a:buFont typeface="Arial" pitchFamily="34" charset="0"/>
              <a:buChar char="•"/>
            </a:pPr>
            <a:r>
              <a:rPr lang="en-US" sz="1600" dirty="0" smtClean="0"/>
              <a:t>Strong positive correlation (0.91) between Quantity and </a:t>
            </a:r>
            <a:r>
              <a:rPr lang="en-US" sz="1600" dirty="0" err="1" smtClean="0"/>
              <a:t>TotalPrice</a:t>
            </a:r>
            <a:r>
              <a:rPr lang="en-US" sz="1600" dirty="0" smtClean="0"/>
              <a:t>.</a:t>
            </a:r>
          </a:p>
          <a:p>
            <a:pPr algn="just">
              <a:buFont typeface="Arial" pitchFamily="34" charset="0"/>
              <a:buChar char="•"/>
            </a:pPr>
            <a:endParaRPr lang="en-US" sz="1600" dirty="0" smtClean="0"/>
          </a:p>
          <a:p>
            <a:pPr algn="just">
              <a:buFont typeface="Arial" pitchFamily="34" charset="0"/>
              <a:buChar char="•"/>
            </a:pPr>
            <a:r>
              <a:rPr lang="en-US" sz="1600" dirty="0" smtClean="0"/>
              <a:t>Weak/negative correlation between Quantity and </a:t>
            </a:r>
            <a:r>
              <a:rPr lang="en-US" sz="1600" dirty="0" err="1" smtClean="0"/>
              <a:t>UnitPrice</a:t>
            </a:r>
            <a:r>
              <a:rPr lang="en-US" sz="1600" dirty="0" smtClean="0"/>
              <a:t>, meaning expensive items are bought in smaller quantities.</a:t>
            </a:r>
          </a:p>
          <a:p>
            <a:pPr algn="just">
              <a:buFont typeface="Arial" pitchFamily="34" charset="0"/>
              <a:buChar char="•"/>
            </a:pPr>
            <a:endParaRPr lang="en-US" sz="1600" dirty="0" smtClean="0"/>
          </a:p>
          <a:p>
            <a:pPr algn="just">
              <a:buFont typeface="Arial" pitchFamily="34" charset="0"/>
              <a:buChar char="•"/>
            </a:pPr>
            <a:r>
              <a:rPr lang="en-US" sz="1600" dirty="0" smtClean="0"/>
              <a:t>Helps understand which variables influence revenue the most before modeling.</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75360" y="690880"/>
            <a:ext cx="4260654" cy="369332"/>
          </a:xfrm>
          <a:prstGeom prst="rect">
            <a:avLst/>
          </a:prstGeom>
          <a:noFill/>
        </p:spPr>
        <p:txBody>
          <a:bodyPr wrap="none" rtlCol="0">
            <a:spAutoFit/>
          </a:bodyPr>
          <a:lstStyle/>
          <a:p>
            <a:r>
              <a:rPr lang="en-US" b="1" dirty="0" smtClean="0"/>
              <a:t>Country-Wise Customer Distribution:</a:t>
            </a:r>
            <a:endParaRPr lang="en-US" b="1" dirty="0"/>
          </a:p>
        </p:txBody>
      </p:sp>
      <p:pic>
        <p:nvPicPr>
          <p:cNvPr id="3" name="Picture 2" descr="Screenshot 2025-12-02 152014.png"/>
          <p:cNvPicPr>
            <a:picLocks noChangeAspect="1"/>
          </p:cNvPicPr>
          <p:nvPr/>
        </p:nvPicPr>
        <p:blipFill>
          <a:blip r:embed="rId2"/>
          <a:stretch>
            <a:fillRect/>
          </a:stretch>
        </p:blipFill>
        <p:spPr>
          <a:xfrm>
            <a:off x="3465793" y="1075121"/>
            <a:ext cx="5077534" cy="2806000"/>
          </a:xfrm>
          <a:prstGeom prst="rect">
            <a:avLst/>
          </a:prstGeom>
        </p:spPr>
      </p:pic>
      <p:sp>
        <p:nvSpPr>
          <p:cNvPr id="4" name="TextBox 3"/>
          <p:cNvSpPr txBox="1"/>
          <p:nvPr/>
        </p:nvSpPr>
        <p:spPr>
          <a:xfrm>
            <a:off x="1178560" y="4480560"/>
            <a:ext cx="9815508" cy="1600438"/>
          </a:xfrm>
          <a:prstGeom prst="rect">
            <a:avLst/>
          </a:prstGeom>
          <a:noFill/>
        </p:spPr>
        <p:txBody>
          <a:bodyPr wrap="none" rtlCol="0">
            <a:spAutoFit/>
          </a:bodyPr>
          <a:lstStyle/>
          <a:p>
            <a:pPr>
              <a:buFont typeface="Arial" pitchFamily="34" charset="0"/>
              <a:buChar char="•"/>
            </a:pPr>
            <a:r>
              <a:rPr lang="en-US" sz="1600" dirty="0" smtClean="0"/>
              <a:t>The UK accounts for 92% of all transactions, showing this dataset is heavily dominated by UK customers.</a:t>
            </a:r>
          </a:p>
          <a:p>
            <a:pPr>
              <a:buFont typeface="Arial" pitchFamily="34" charset="0"/>
              <a:buChar char="•"/>
            </a:pPr>
            <a:endParaRPr lang="en-US" sz="1600" dirty="0" smtClean="0"/>
          </a:p>
          <a:p>
            <a:pPr>
              <a:buFont typeface="Arial" pitchFamily="34" charset="0"/>
              <a:buChar char="•"/>
            </a:pPr>
            <a:r>
              <a:rPr lang="en-US" sz="1600" dirty="0" smtClean="0"/>
              <a:t>Other countries like Germany, France, EIRE contribute very small percentages.</a:t>
            </a:r>
          </a:p>
          <a:p>
            <a:pPr>
              <a:buFont typeface="Arial" pitchFamily="34" charset="0"/>
              <a:buChar char="•"/>
            </a:pPr>
            <a:endParaRPr lang="en-US" sz="1600" dirty="0" smtClean="0"/>
          </a:p>
          <a:p>
            <a:pPr>
              <a:buFont typeface="Arial" pitchFamily="34" charset="0"/>
              <a:buChar char="•"/>
            </a:pPr>
            <a:r>
              <a:rPr lang="en-US" sz="1600" dirty="0" smtClean="0"/>
              <a:t>Analysis and segmentation will primarily focus on UK customers due to large sample size.</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6400" y="467360"/>
            <a:ext cx="11785600" cy="3847207"/>
          </a:xfrm>
          <a:prstGeom prst="rect">
            <a:avLst/>
          </a:prstGeom>
          <a:noFill/>
        </p:spPr>
        <p:txBody>
          <a:bodyPr wrap="square" rtlCol="0">
            <a:spAutoFit/>
          </a:bodyPr>
          <a:lstStyle/>
          <a:p>
            <a:r>
              <a:rPr lang="en-US" sz="2400" b="1" dirty="0" smtClean="0"/>
              <a:t>RFM Analysis for Customer Segmentation:</a:t>
            </a:r>
          </a:p>
          <a:p>
            <a:endParaRPr lang="en-US" sz="2000" b="1" dirty="0" smtClean="0"/>
          </a:p>
          <a:p>
            <a:pPr>
              <a:buFont typeface="Arial" pitchFamily="34" charset="0"/>
              <a:buChar char="•"/>
            </a:pPr>
            <a:r>
              <a:rPr lang="en-US" sz="2000" b="1" dirty="0" smtClean="0"/>
              <a:t>RFM Analysis</a:t>
            </a:r>
          </a:p>
          <a:p>
            <a:r>
              <a:rPr lang="en-US" sz="2000" b="1" dirty="0" err="1" smtClean="0"/>
              <a:t>Recency</a:t>
            </a:r>
            <a:r>
              <a:rPr lang="en-US" sz="2000" b="1" dirty="0" smtClean="0"/>
              <a:t>, Frequency, Monetary –(RFM)Analysis</a:t>
            </a:r>
          </a:p>
          <a:p>
            <a:endParaRPr lang="en-US" sz="2000" b="1" dirty="0" smtClean="0"/>
          </a:p>
          <a:p>
            <a:r>
              <a:rPr lang="en-US" sz="2000" b="1" dirty="0" smtClean="0"/>
              <a:t>RFM </a:t>
            </a:r>
            <a:r>
              <a:rPr lang="en-US" sz="2000" b="1" dirty="0" err="1" smtClean="0"/>
              <a:t>Metrices</a:t>
            </a:r>
            <a:r>
              <a:rPr lang="en-US" sz="2000" b="1" dirty="0" smtClean="0"/>
              <a:t>:</a:t>
            </a:r>
          </a:p>
          <a:p>
            <a:r>
              <a:rPr lang="en-US" sz="2000" dirty="0" err="1" smtClean="0"/>
              <a:t>Recency</a:t>
            </a:r>
            <a:r>
              <a:rPr lang="en-US" sz="2000" dirty="0" smtClean="0"/>
              <a:t> : Day’s since the customer’s last purchase.</a:t>
            </a:r>
          </a:p>
          <a:p>
            <a:r>
              <a:rPr lang="en-US" sz="2000" dirty="0" smtClean="0"/>
              <a:t>Frequency : Number of purchases by the customer.</a:t>
            </a:r>
          </a:p>
          <a:p>
            <a:r>
              <a:rPr lang="en-US" sz="2000" dirty="0" smtClean="0"/>
              <a:t>Monetary : Total amount spent by the customer.</a:t>
            </a:r>
          </a:p>
          <a:p>
            <a:endParaRPr lang="en-US" sz="2000" dirty="0" smtClean="0"/>
          </a:p>
          <a:p>
            <a:endParaRPr lang="en-US" sz="2000" dirty="0" smtClean="0"/>
          </a:p>
          <a:p>
            <a:r>
              <a:rPr lang="en-US" sz="2000" b="1" dirty="0" smtClean="0"/>
              <a:t>Objective: </a:t>
            </a:r>
            <a:r>
              <a:rPr lang="en-US" sz="2000" dirty="0" smtClean="0"/>
              <a:t>Identify and segment customers for personalized marketing and engagement.</a:t>
            </a:r>
          </a:p>
        </p:txBody>
      </p:sp>
      <p:sp>
        <p:nvSpPr>
          <p:cNvPr id="3" name="TextBox 2"/>
          <p:cNvSpPr txBox="1"/>
          <p:nvPr/>
        </p:nvSpPr>
        <p:spPr>
          <a:xfrm>
            <a:off x="375920" y="4272677"/>
            <a:ext cx="9987280" cy="2585323"/>
          </a:xfrm>
          <a:prstGeom prst="rect">
            <a:avLst/>
          </a:prstGeom>
          <a:noFill/>
        </p:spPr>
        <p:txBody>
          <a:bodyPr wrap="square" rtlCol="0">
            <a:spAutoFit/>
          </a:bodyPr>
          <a:lstStyle/>
          <a:p>
            <a:r>
              <a:rPr lang="en-US" b="1" dirty="0" smtClean="0"/>
              <a:t>Monetary :</a:t>
            </a:r>
          </a:p>
          <a:p>
            <a:endParaRPr lang="en-US" b="1" dirty="0" smtClean="0"/>
          </a:p>
          <a:p>
            <a:pPr>
              <a:buFont typeface="Arial" pitchFamily="34" charset="0"/>
              <a:buChar char="•"/>
            </a:pPr>
            <a:r>
              <a:rPr lang="en-US" dirty="0" smtClean="0"/>
              <a:t>The total amount spent by a customer.</a:t>
            </a:r>
          </a:p>
          <a:p>
            <a:endParaRPr lang="en-US" dirty="0" smtClean="0"/>
          </a:p>
          <a:p>
            <a:pPr>
              <a:buFont typeface="Arial" pitchFamily="34" charset="0"/>
              <a:buChar char="•"/>
            </a:pPr>
            <a:r>
              <a:rPr lang="en-US" dirty="0" smtClean="0"/>
              <a:t>It helps identify high-value customers based on spending.</a:t>
            </a:r>
          </a:p>
          <a:p>
            <a:pPr>
              <a:buFont typeface="Arial" pitchFamily="34" charset="0"/>
              <a:buChar char="•"/>
            </a:pPr>
            <a:endParaRPr lang="en-US" dirty="0" smtClean="0"/>
          </a:p>
          <a:p>
            <a:pPr>
              <a:buFont typeface="Arial" pitchFamily="34" charset="0"/>
              <a:buChar char="•"/>
            </a:pPr>
            <a:r>
              <a:rPr lang="en-US" dirty="0" err="1" smtClean="0"/>
              <a:t>Multipy</a:t>
            </a:r>
            <a:r>
              <a:rPr lang="en-US" dirty="0" smtClean="0"/>
              <a:t> the Quantity and </a:t>
            </a:r>
            <a:r>
              <a:rPr lang="en-US" dirty="0" err="1" smtClean="0"/>
              <a:t>UnitPrice</a:t>
            </a:r>
            <a:r>
              <a:rPr lang="en-US" dirty="0" smtClean="0"/>
              <a:t> for each transaction .</a:t>
            </a:r>
          </a:p>
          <a:p>
            <a:endParaRPr lang="en-US" dirty="0" smtClean="0"/>
          </a:p>
          <a:p>
            <a:pPr>
              <a:buFont typeface="Arial" pitchFamily="34" charset="0"/>
              <a:buChar char="•"/>
            </a:pPr>
            <a:r>
              <a:rPr lang="en-US" dirty="0" smtClean="0"/>
              <a:t>Aggregate the spending for each </a:t>
            </a:r>
            <a:r>
              <a:rPr lang="en-US" dirty="0" err="1" smtClean="0"/>
              <a:t>CustomerID</a:t>
            </a:r>
            <a:r>
              <a:rPr lang="en-US" dirty="0" smtClean="0"/>
              <a:t>.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7840" y="325120"/>
            <a:ext cx="11694160" cy="7017306"/>
          </a:xfrm>
          <a:prstGeom prst="rect">
            <a:avLst/>
          </a:prstGeom>
          <a:noFill/>
        </p:spPr>
        <p:txBody>
          <a:bodyPr wrap="square" rtlCol="0">
            <a:spAutoFit/>
          </a:bodyPr>
          <a:lstStyle/>
          <a:p>
            <a:endParaRPr lang="en-US" b="1" dirty="0" smtClean="0"/>
          </a:p>
          <a:p>
            <a:r>
              <a:rPr lang="en-US" b="1" dirty="0" smtClean="0"/>
              <a:t>Frequency</a:t>
            </a:r>
            <a:r>
              <a:rPr lang="en-US" dirty="0" smtClean="0"/>
              <a:t>:</a:t>
            </a:r>
          </a:p>
          <a:p>
            <a:pPr algn="just"/>
            <a:endParaRPr lang="en-US" dirty="0" smtClean="0"/>
          </a:p>
          <a:p>
            <a:pPr algn="just">
              <a:buFont typeface="Arial" pitchFamily="34" charset="0"/>
              <a:buChar char="•"/>
            </a:pPr>
            <a:r>
              <a:rPr lang="en-US" dirty="0" smtClean="0"/>
              <a:t>The number of transactions a customer made during the timeframe .</a:t>
            </a:r>
          </a:p>
          <a:p>
            <a:pPr algn="just"/>
            <a:endParaRPr lang="en-US" dirty="0" smtClean="0"/>
          </a:p>
          <a:p>
            <a:pPr algn="just">
              <a:buFont typeface="Arial" pitchFamily="34" charset="0"/>
              <a:buChar char="•"/>
            </a:pPr>
            <a:r>
              <a:rPr lang="en-US" dirty="0" smtClean="0"/>
              <a:t>High-</a:t>
            </a:r>
            <a:r>
              <a:rPr lang="en-US" dirty="0" err="1" smtClean="0"/>
              <a:t>freuency</a:t>
            </a:r>
            <a:r>
              <a:rPr lang="en-US" dirty="0" smtClean="0"/>
              <a:t> customers indicate loyalty and engagement.</a:t>
            </a:r>
          </a:p>
          <a:p>
            <a:pPr algn="just"/>
            <a:endParaRPr lang="en-US" dirty="0" smtClean="0"/>
          </a:p>
          <a:p>
            <a:pPr algn="just">
              <a:buFont typeface="Arial" pitchFamily="34" charset="0"/>
              <a:buChar char="•"/>
            </a:pPr>
            <a:r>
              <a:rPr lang="en-US" dirty="0" smtClean="0"/>
              <a:t>Count the unique invoices for each </a:t>
            </a:r>
            <a:r>
              <a:rPr lang="en-US" dirty="0" err="1" smtClean="0"/>
              <a:t>coustomerID</a:t>
            </a:r>
            <a:r>
              <a:rPr lang="en-US" dirty="0" smtClean="0"/>
              <a:t>.</a:t>
            </a:r>
          </a:p>
          <a:p>
            <a:pPr>
              <a:buFont typeface="Arial" pitchFamily="34" charset="0"/>
              <a:buChar char="•"/>
            </a:pPr>
            <a:endParaRPr lang="en-US" dirty="0" smtClean="0"/>
          </a:p>
          <a:p>
            <a:pPr>
              <a:buFont typeface="Arial" pitchFamily="34" charset="0"/>
              <a:buChar char="•"/>
            </a:pPr>
            <a:endParaRPr lang="en-US" dirty="0" smtClean="0"/>
          </a:p>
          <a:p>
            <a:endParaRPr lang="en-US" b="1" dirty="0" smtClean="0"/>
          </a:p>
          <a:p>
            <a:r>
              <a:rPr lang="en-US" b="1" dirty="0" err="1" smtClean="0"/>
              <a:t>Recency</a:t>
            </a:r>
            <a:r>
              <a:rPr lang="en-US" b="1" dirty="0" smtClean="0"/>
              <a:t>:</a:t>
            </a:r>
          </a:p>
          <a:p>
            <a:pPr algn="just"/>
            <a:endParaRPr lang="en-US" b="1" dirty="0" smtClean="0"/>
          </a:p>
          <a:p>
            <a:pPr algn="just">
              <a:buFont typeface="Arial" pitchFamily="34" charset="0"/>
              <a:buChar char="•"/>
            </a:pPr>
            <a:r>
              <a:rPr lang="en-US" dirty="0" smtClean="0"/>
              <a:t>The number of days since a customer’s last transaction.</a:t>
            </a:r>
          </a:p>
          <a:p>
            <a:pPr algn="just">
              <a:buFont typeface="Arial" pitchFamily="34" charset="0"/>
              <a:buChar char="•"/>
            </a:pPr>
            <a:endParaRPr lang="en-US" dirty="0" smtClean="0"/>
          </a:p>
          <a:p>
            <a:pPr algn="just">
              <a:buFont typeface="Arial" pitchFamily="34" charset="0"/>
              <a:buChar char="•"/>
            </a:pPr>
            <a:r>
              <a:rPr lang="en-US" dirty="0" smtClean="0"/>
              <a:t>Recent purchases suggest higher likelihood of repeat purchases.</a:t>
            </a:r>
          </a:p>
          <a:p>
            <a:pPr algn="just">
              <a:buFont typeface="Arial" pitchFamily="34" charset="0"/>
              <a:buChar char="•"/>
            </a:pPr>
            <a:endParaRPr lang="en-US" dirty="0" smtClean="0"/>
          </a:p>
          <a:p>
            <a:pPr algn="just">
              <a:buFont typeface="Arial" pitchFamily="34" charset="0"/>
              <a:buChar char="•"/>
            </a:pPr>
            <a:r>
              <a:rPr lang="en-US" dirty="0" smtClean="0"/>
              <a:t>Calculate the difference between </a:t>
            </a:r>
            <a:r>
              <a:rPr lang="en-US" dirty="0" err="1" smtClean="0"/>
              <a:t>max_date</a:t>
            </a:r>
            <a:r>
              <a:rPr lang="en-US" dirty="0" smtClean="0"/>
              <a:t> (last transaction date in the dataset) and each customer’s </a:t>
            </a:r>
            <a:r>
              <a:rPr lang="en-US" dirty="0" err="1" smtClean="0"/>
              <a:t>InvoiceDate</a:t>
            </a:r>
            <a:r>
              <a:rPr lang="en-US" dirty="0" smtClean="0"/>
              <a:t>.</a:t>
            </a:r>
          </a:p>
          <a:p>
            <a:pPr algn="just">
              <a:buFont typeface="Arial" pitchFamily="34" charset="0"/>
              <a:buChar char="•"/>
            </a:pPr>
            <a:endParaRPr lang="en-US" dirty="0" smtClean="0"/>
          </a:p>
          <a:p>
            <a:pPr algn="just">
              <a:buFont typeface="Arial" pitchFamily="34" charset="0"/>
              <a:buChar char="•"/>
            </a:pPr>
            <a:r>
              <a:rPr lang="en-US" dirty="0" smtClean="0"/>
              <a:t>Extract the number of days for comparison.</a:t>
            </a:r>
          </a:p>
          <a:p>
            <a:endParaRPr lang="en-US" b="1" dirty="0" smtClean="0"/>
          </a:p>
          <a:p>
            <a:endParaRPr lang="en-US" b="1" dirty="0" smtClean="0"/>
          </a:p>
          <a:p>
            <a:endParaRPr lang="en-US" dirty="0" smtClean="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12-02 224059.png"/>
          <p:cNvPicPr>
            <a:picLocks noChangeAspect="1"/>
          </p:cNvPicPr>
          <p:nvPr/>
        </p:nvPicPr>
        <p:blipFill>
          <a:blip r:embed="rId2"/>
          <a:stretch>
            <a:fillRect/>
          </a:stretch>
        </p:blipFill>
        <p:spPr>
          <a:xfrm>
            <a:off x="152400" y="351289"/>
            <a:ext cx="4226560" cy="2619741"/>
          </a:xfrm>
          <a:prstGeom prst="rect">
            <a:avLst/>
          </a:prstGeom>
        </p:spPr>
      </p:pic>
      <p:pic>
        <p:nvPicPr>
          <p:cNvPr id="3" name="Picture 2" descr="Screenshot 2025-12-02 224112.png"/>
          <p:cNvPicPr>
            <a:picLocks noChangeAspect="1"/>
          </p:cNvPicPr>
          <p:nvPr/>
        </p:nvPicPr>
        <p:blipFill>
          <a:blip r:embed="rId3"/>
          <a:stretch>
            <a:fillRect/>
          </a:stretch>
        </p:blipFill>
        <p:spPr>
          <a:xfrm>
            <a:off x="4353927" y="336039"/>
            <a:ext cx="3829585" cy="2772162"/>
          </a:xfrm>
          <a:prstGeom prst="rect">
            <a:avLst/>
          </a:prstGeom>
        </p:spPr>
      </p:pic>
      <p:pic>
        <p:nvPicPr>
          <p:cNvPr id="4" name="Picture 3" descr="Screenshot 2025-12-02 224140.png"/>
          <p:cNvPicPr>
            <a:picLocks noChangeAspect="1"/>
          </p:cNvPicPr>
          <p:nvPr/>
        </p:nvPicPr>
        <p:blipFill>
          <a:blip r:embed="rId4"/>
          <a:stretch>
            <a:fillRect/>
          </a:stretch>
        </p:blipFill>
        <p:spPr>
          <a:xfrm>
            <a:off x="8268874" y="294640"/>
            <a:ext cx="3923126" cy="2543530"/>
          </a:xfrm>
          <a:prstGeom prst="rect">
            <a:avLst/>
          </a:prstGeom>
        </p:spPr>
      </p:pic>
      <p:pic>
        <p:nvPicPr>
          <p:cNvPr id="5" name="Picture 4" descr="Screenshot 2025-12-02 224411.png"/>
          <p:cNvPicPr>
            <a:picLocks noChangeAspect="1"/>
          </p:cNvPicPr>
          <p:nvPr/>
        </p:nvPicPr>
        <p:blipFill>
          <a:blip r:embed="rId5"/>
          <a:stretch>
            <a:fillRect/>
          </a:stretch>
        </p:blipFill>
        <p:spPr>
          <a:xfrm>
            <a:off x="160245" y="3199889"/>
            <a:ext cx="12031755" cy="365811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2560" y="0"/>
            <a:ext cx="12029440" cy="7325082"/>
          </a:xfrm>
          <a:prstGeom prst="rect">
            <a:avLst/>
          </a:prstGeom>
          <a:noFill/>
        </p:spPr>
        <p:txBody>
          <a:bodyPr wrap="square" rtlCol="0">
            <a:spAutoFit/>
          </a:bodyPr>
          <a:lstStyle/>
          <a:p>
            <a:r>
              <a:rPr lang="en-US" b="1" dirty="0" smtClean="0"/>
              <a:t>Outlier Analysis of Amount, Frequency, and </a:t>
            </a:r>
            <a:r>
              <a:rPr lang="en-US" b="1" dirty="0" err="1" smtClean="0"/>
              <a:t>Recency</a:t>
            </a:r>
            <a:r>
              <a:rPr lang="en-US" b="1" dirty="0" smtClean="0"/>
              <a:t>:</a:t>
            </a:r>
          </a:p>
          <a:p>
            <a:endParaRPr lang="en-US" b="1" dirty="0" smtClean="0"/>
          </a:p>
          <a:p>
            <a:r>
              <a:rPr lang="en-US" sz="1600" b="1" dirty="0" smtClean="0"/>
              <a:t>Introduction to Outlier Analysis</a:t>
            </a:r>
          </a:p>
          <a:p>
            <a:endParaRPr lang="en-US" sz="1600" dirty="0" smtClean="0"/>
          </a:p>
          <a:p>
            <a:r>
              <a:rPr lang="en-US" sz="1600" dirty="0" smtClean="0"/>
              <a:t>Outlier analysis identifies data points that deviate significantly from the normal pattern. These unusual values may represent errors, rare events, or unique customer behaviors, and must be investigated for better data quality.</a:t>
            </a:r>
          </a:p>
          <a:p>
            <a:endParaRPr lang="en-US" sz="1600" dirty="0" smtClean="0"/>
          </a:p>
          <a:p>
            <a:r>
              <a:rPr lang="en-US" sz="1600" b="1" dirty="0" smtClean="0"/>
              <a:t>Purpose of Analyzing Outliers</a:t>
            </a:r>
          </a:p>
          <a:p>
            <a:endParaRPr lang="en-US" sz="1600" b="1" dirty="0" smtClean="0"/>
          </a:p>
          <a:p>
            <a:r>
              <a:rPr lang="en-US" sz="1600" b="1" dirty="0" smtClean="0"/>
              <a:t>1. Improving Data Quality</a:t>
            </a:r>
            <a:endParaRPr lang="en-US" sz="1600" dirty="0" smtClean="0"/>
          </a:p>
          <a:p>
            <a:pPr>
              <a:buFont typeface="Arial" pitchFamily="34" charset="0"/>
              <a:buChar char="•"/>
            </a:pPr>
            <a:endParaRPr lang="en-US" sz="1600" dirty="0" smtClean="0"/>
          </a:p>
          <a:p>
            <a:pPr>
              <a:buFont typeface="Arial" pitchFamily="34" charset="0"/>
              <a:buChar char="•"/>
            </a:pPr>
            <a:r>
              <a:rPr lang="en-US" sz="1600" dirty="0" smtClean="0"/>
              <a:t>Removing or treating outliers helps eliminate noise.</a:t>
            </a:r>
          </a:p>
          <a:p>
            <a:pPr>
              <a:buFont typeface="Arial" pitchFamily="34" charset="0"/>
              <a:buChar char="•"/>
            </a:pPr>
            <a:endParaRPr lang="en-US" sz="1600" dirty="0" smtClean="0"/>
          </a:p>
          <a:p>
            <a:pPr>
              <a:buFont typeface="Arial" pitchFamily="34" charset="0"/>
              <a:buChar char="•"/>
            </a:pPr>
            <a:r>
              <a:rPr lang="en-US" sz="1600" dirty="0" smtClean="0"/>
              <a:t>Ensures the dataset is clean and reliable for analysis.</a:t>
            </a:r>
          </a:p>
          <a:p>
            <a:endParaRPr lang="en-US" sz="1600" b="1" dirty="0" smtClean="0"/>
          </a:p>
          <a:p>
            <a:r>
              <a:rPr lang="en-US" sz="1600" b="1" dirty="0" smtClean="0"/>
              <a:t>2. Enhancing Customer Segmentation</a:t>
            </a:r>
            <a:endParaRPr lang="en-US" sz="1600" dirty="0" smtClean="0"/>
          </a:p>
          <a:p>
            <a:endParaRPr lang="en-US" sz="1600" dirty="0" smtClean="0"/>
          </a:p>
          <a:p>
            <a:pPr>
              <a:buFont typeface="Arial" pitchFamily="34" charset="0"/>
              <a:buChar char="•"/>
            </a:pPr>
            <a:r>
              <a:rPr lang="en-US" sz="1600" dirty="0" smtClean="0"/>
              <a:t>Outliers in Monetary, Frequency, and </a:t>
            </a:r>
            <a:r>
              <a:rPr lang="en-US" sz="1600" dirty="0" err="1" smtClean="0"/>
              <a:t>Recency</a:t>
            </a:r>
            <a:r>
              <a:rPr lang="en-US" sz="1600" dirty="0" smtClean="0"/>
              <a:t> may represent exceptional customers (very high spenders or extremely inactive customers).</a:t>
            </a:r>
          </a:p>
          <a:p>
            <a:pPr>
              <a:buFont typeface="Arial" pitchFamily="34" charset="0"/>
              <a:buChar char="•"/>
            </a:pPr>
            <a:endParaRPr lang="en-US" sz="1600" dirty="0" smtClean="0"/>
          </a:p>
          <a:p>
            <a:pPr>
              <a:buFont typeface="Arial" pitchFamily="34" charset="0"/>
              <a:buChar char="•"/>
            </a:pPr>
            <a:r>
              <a:rPr lang="en-US" sz="1600" dirty="0" smtClean="0"/>
              <a:t>Helps in creating more meaningful RFM segments.</a:t>
            </a:r>
          </a:p>
          <a:p>
            <a:endParaRPr lang="en-US" sz="1600" b="1" dirty="0" smtClean="0"/>
          </a:p>
          <a:p>
            <a:r>
              <a:rPr lang="en-US" sz="1600" b="1" dirty="0" smtClean="0"/>
              <a:t>3. Improving Model Accuracy</a:t>
            </a:r>
            <a:endParaRPr lang="en-US" sz="1600" dirty="0" smtClean="0"/>
          </a:p>
          <a:p>
            <a:endParaRPr lang="en-US" sz="1600" dirty="0" smtClean="0"/>
          </a:p>
          <a:p>
            <a:pPr>
              <a:buFont typeface="Arial" pitchFamily="34" charset="0"/>
              <a:buChar char="•"/>
            </a:pPr>
            <a:r>
              <a:rPr lang="en-US" sz="1600" dirty="0" smtClean="0"/>
              <a:t>Outliers can distort clustering and predictive models.</a:t>
            </a:r>
          </a:p>
          <a:p>
            <a:pPr>
              <a:buFont typeface="Arial" pitchFamily="34" charset="0"/>
              <a:buChar char="•"/>
            </a:pPr>
            <a:endParaRPr lang="en-US" sz="1600" dirty="0" smtClean="0"/>
          </a:p>
          <a:p>
            <a:pPr>
              <a:buFont typeface="Arial" pitchFamily="34" charset="0"/>
              <a:buChar char="•"/>
            </a:pPr>
            <a:r>
              <a:rPr lang="en-US" sz="1600" dirty="0" smtClean="0"/>
              <a:t>Proper handling ensures more accurate and stable results.</a:t>
            </a:r>
          </a:p>
          <a:p>
            <a:endParaRPr lang="en-US" sz="1600" dirty="0" smtClean="0"/>
          </a:p>
          <a:p>
            <a:endParaRPr lang="en-US"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6720" y="538480"/>
            <a:ext cx="5862320" cy="4401205"/>
          </a:xfrm>
          <a:prstGeom prst="rect">
            <a:avLst/>
          </a:prstGeom>
          <a:noFill/>
        </p:spPr>
        <p:txBody>
          <a:bodyPr wrap="square" rtlCol="0">
            <a:spAutoFit/>
          </a:bodyPr>
          <a:lstStyle/>
          <a:p>
            <a:r>
              <a:rPr lang="en-US" sz="2400" b="1" dirty="0" smtClean="0"/>
              <a:t>Attributes Analyzed:</a:t>
            </a:r>
          </a:p>
          <a:p>
            <a:endParaRPr lang="en-US" b="1" dirty="0" smtClean="0"/>
          </a:p>
          <a:p>
            <a:r>
              <a:rPr lang="en-US" sz="2000" dirty="0" smtClean="0"/>
              <a:t>We perform outlier analysis on the following key RFM attributes:</a:t>
            </a:r>
          </a:p>
          <a:p>
            <a:endParaRPr lang="en-US" sz="2000" dirty="0" smtClean="0"/>
          </a:p>
          <a:p>
            <a:r>
              <a:rPr lang="en-US" sz="2000" b="1" dirty="0" smtClean="0"/>
              <a:t>Amount (Monetary):</a:t>
            </a:r>
            <a:r>
              <a:rPr lang="en-US" sz="2000" dirty="0" smtClean="0"/>
              <a:t> Total value spent by the customer.</a:t>
            </a:r>
          </a:p>
          <a:p>
            <a:endParaRPr lang="en-US" sz="2000" dirty="0" smtClean="0"/>
          </a:p>
          <a:p>
            <a:r>
              <a:rPr lang="en-US" sz="2000" b="1" dirty="0" smtClean="0"/>
              <a:t>Frequency:</a:t>
            </a:r>
            <a:r>
              <a:rPr lang="en-US" sz="2000" dirty="0" smtClean="0"/>
              <a:t> Number of transactions made by the customer.</a:t>
            </a:r>
          </a:p>
          <a:p>
            <a:endParaRPr lang="en-US" sz="2000" dirty="0" smtClean="0"/>
          </a:p>
          <a:p>
            <a:r>
              <a:rPr lang="en-US" sz="2000" b="1" dirty="0" err="1" smtClean="0"/>
              <a:t>Recency</a:t>
            </a:r>
            <a:r>
              <a:rPr lang="en-US" sz="2000" b="1" dirty="0" smtClean="0"/>
              <a:t>:</a:t>
            </a:r>
            <a:r>
              <a:rPr lang="en-US" sz="2000" dirty="0" smtClean="0"/>
              <a:t> Time elapsed since the customer's last purchase.</a:t>
            </a:r>
          </a:p>
          <a:p>
            <a:endParaRPr lang="en-US" b="1" dirty="0"/>
          </a:p>
        </p:txBody>
      </p:sp>
      <p:pic>
        <p:nvPicPr>
          <p:cNvPr id="3" name="Picture 2" descr="Screenshot 2025-12-02 230315.png"/>
          <p:cNvPicPr>
            <a:picLocks noChangeAspect="1"/>
          </p:cNvPicPr>
          <p:nvPr/>
        </p:nvPicPr>
        <p:blipFill>
          <a:blip r:embed="rId2"/>
          <a:stretch>
            <a:fillRect/>
          </a:stretch>
        </p:blipFill>
        <p:spPr>
          <a:xfrm>
            <a:off x="6190412" y="755240"/>
            <a:ext cx="6001588" cy="2201320"/>
          </a:xfrm>
          <a:prstGeom prst="rect">
            <a:avLst/>
          </a:prstGeom>
        </p:spPr>
      </p:pic>
      <p:pic>
        <p:nvPicPr>
          <p:cNvPr id="4" name="Picture 3" descr="Screenshot 2025-12-02 230343.png"/>
          <p:cNvPicPr>
            <a:picLocks noChangeAspect="1"/>
          </p:cNvPicPr>
          <p:nvPr/>
        </p:nvPicPr>
        <p:blipFill>
          <a:blip r:embed="rId3"/>
          <a:stretch>
            <a:fillRect/>
          </a:stretch>
        </p:blipFill>
        <p:spPr>
          <a:xfrm>
            <a:off x="5925770" y="2952398"/>
            <a:ext cx="6266230" cy="136560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467360"/>
            <a:ext cx="5974080" cy="5570756"/>
          </a:xfrm>
          <a:prstGeom prst="rect">
            <a:avLst/>
          </a:prstGeom>
          <a:noFill/>
        </p:spPr>
        <p:txBody>
          <a:bodyPr wrap="square" rtlCol="0">
            <a:spAutoFit/>
          </a:bodyPr>
          <a:lstStyle/>
          <a:p>
            <a:r>
              <a:rPr lang="en-US" sz="2800" b="1" dirty="0" smtClean="0"/>
              <a:t>Visualizing Outliers with Box Plots:</a:t>
            </a:r>
          </a:p>
          <a:p>
            <a:endParaRPr lang="en-US" b="1" dirty="0" smtClean="0"/>
          </a:p>
          <a:p>
            <a:r>
              <a:rPr lang="en-US" sz="2400" dirty="0" smtClean="0"/>
              <a:t>To detect outliers, we used box plots. A box plot is an effective way to visualize the distribution of data and highlight outliers.</a:t>
            </a:r>
          </a:p>
          <a:p>
            <a:endParaRPr lang="en-US" sz="2400" dirty="0" smtClean="0"/>
          </a:p>
          <a:p>
            <a:r>
              <a:rPr lang="en-US" sz="2400" b="1" dirty="0" smtClean="0"/>
              <a:t>Whiskers:</a:t>
            </a:r>
            <a:r>
              <a:rPr lang="en-US" sz="2400" dirty="0" smtClean="0"/>
              <a:t> Represent the range of data within 1.5 * </a:t>
            </a:r>
            <a:r>
              <a:rPr lang="en-US" sz="2400" dirty="0" err="1" smtClean="0"/>
              <a:t>Interquartile</a:t>
            </a:r>
            <a:r>
              <a:rPr lang="en-US" sz="2400" dirty="0" smtClean="0"/>
              <a:t> Range (IQR). Data beyond the whiskers are considered outliers.</a:t>
            </a:r>
          </a:p>
          <a:p>
            <a:endParaRPr lang="en-US" sz="2400" dirty="0" smtClean="0"/>
          </a:p>
          <a:p>
            <a:r>
              <a:rPr lang="en-US" sz="2400" b="1" dirty="0" smtClean="0"/>
              <a:t>Boxes:</a:t>
            </a:r>
            <a:r>
              <a:rPr lang="en-US" sz="2400" dirty="0" smtClean="0"/>
              <a:t> Represent the </a:t>
            </a:r>
            <a:r>
              <a:rPr lang="en-US" sz="2400" dirty="0" err="1" smtClean="0"/>
              <a:t>interquartile</a:t>
            </a:r>
            <a:r>
              <a:rPr lang="en-US" sz="2400" dirty="0" smtClean="0"/>
              <a:t> range (IQR), which is the middle of data.</a:t>
            </a:r>
          </a:p>
          <a:p>
            <a:endParaRPr lang="en-US" dirty="0"/>
          </a:p>
        </p:txBody>
      </p:sp>
      <p:pic>
        <p:nvPicPr>
          <p:cNvPr id="3" name="Picture 2" descr="Screenshot 2025-12-02 231321.png"/>
          <p:cNvPicPr>
            <a:picLocks noChangeAspect="1"/>
          </p:cNvPicPr>
          <p:nvPr/>
        </p:nvPicPr>
        <p:blipFill>
          <a:blip r:embed="rId2"/>
          <a:stretch>
            <a:fillRect/>
          </a:stretch>
        </p:blipFill>
        <p:spPr>
          <a:xfrm>
            <a:off x="5771088" y="515365"/>
            <a:ext cx="6420912" cy="604799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7040880" cy="6555641"/>
          </a:xfrm>
          <a:prstGeom prst="rect">
            <a:avLst/>
          </a:prstGeom>
          <a:noFill/>
        </p:spPr>
        <p:txBody>
          <a:bodyPr wrap="square" rtlCol="0">
            <a:spAutoFit/>
          </a:bodyPr>
          <a:lstStyle/>
          <a:p>
            <a:r>
              <a:rPr lang="en-US" sz="2400" b="1" dirty="0" smtClean="0"/>
              <a:t>RFM </a:t>
            </a:r>
            <a:r>
              <a:rPr lang="en-US" sz="2400" b="1" dirty="0" err="1" smtClean="0"/>
              <a:t>Boxplot</a:t>
            </a:r>
            <a:r>
              <a:rPr lang="en-US" sz="2400" b="1" dirty="0" smtClean="0"/>
              <a:t> – </a:t>
            </a:r>
          </a:p>
          <a:p>
            <a:r>
              <a:rPr lang="en-US" b="1" dirty="0" err="1" smtClean="0"/>
              <a:t>Recency</a:t>
            </a:r>
            <a:endParaRPr lang="en-US" b="1" dirty="0" smtClean="0"/>
          </a:p>
          <a:p>
            <a:pPr>
              <a:buFont typeface="Arial" pitchFamily="34" charset="0"/>
              <a:buChar char="•"/>
            </a:pPr>
            <a:r>
              <a:rPr lang="en-US" dirty="0" smtClean="0"/>
              <a:t>The box is very small, indicating most customers purchased recently.</a:t>
            </a:r>
          </a:p>
          <a:p>
            <a:endParaRPr lang="en-US" dirty="0" smtClean="0"/>
          </a:p>
          <a:p>
            <a:pPr>
              <a:buFont typeface="Arial" pitchFamily="34" charset="0"/>
              <a:buChar char="•"/>
            </a:pPr>
            <a:r>
              <a:rPr lang="en-US" dirty="0" smtClean="0"/>
              <a:t>A few points far above the box represent inactive customers (outliers).</a:t>
            </a:r>
          </a:p>
          <a:p>
            <a:endParaRPr lang="en-US" dirty="0" smtClean="0"/>
          </a:p>
          <a:p>
            <a:r>
              <a:rPr lang="en-US" b="1" dirty="0" smtClean="0"/>
              <a:t>Frequency</a:t>
            </a:r>
          </a:p>
          <a:p>
            <a:endParaRPr lang="en-US" b="1" dirty="0" smtClean="0"/>
          </a:p>
          <a:p>
            <a:pPr>
              <a:buFont typeface="Arial" pitchFamily="34" charset="0"/>
              <a:buChar char="•"/>
            </a:pPr>
            <a:r>
              <a:rPr lang="en-US" dirty="0" smtClean="0"/>
              <a:t>Most customers purchased only 1–2 times, shown by the compressed lower box.</a:t>
            </a:r>
          </a:p>
          <a:p>
            <a:endParaRPr lang="en-US" dirty="0" smtClean="0"/>
          </a:p>
          <a:p>
            <a:pPr>
              <a:buFont typeface="Arial" pitchFamily="34" charset="0"/>
              <a:buChar char="•"/>
            </a:pPr>
            <a:r>
              <a:rPr lang="en-US" dirty="0" smtClean="0"/>
              <a:t>Several points above the box indicate loyal, repeat customers (outliers).</a:t>
            </a:r>
          </a:p>
          <a:p>
            <a:endParaRPr lang="en-US" dirty="0" smtClean="0"/>
          </a:p>
          <a:p>
            <a:r>
              <a:rPr lang="en-US" b="1" dirty="0" smtClean="0"/>
              <a:t>Monetary</a:t>
            </a:r>
          </a:p>
          <a:p>
            <a:endParaRPr lang="en-US" b="1" dirty="0" smtClean="0"/>
          </a:p>
          <a:p>
            <a:pPr>
              <a:buFont typeface="Arial" pitchFamily="34" charset="0"/>
              <a:buChar char="•"/>
            </a:pPr>
            <a:r>
              <a:rPr lang="en-US" dirty="0" smtClean="0"/>
              <a:t>Monetary values are highly right-skewed.</a:t>
            </a:r>
          </a:p>
          <a:p>
            <a:endParaRPr lang="en-US" dirty="0" smtClean="0"/>
          </a:p>
          <a:p>
            <a:pPr>
              <a:buFont typeface="Arial" pitchFamily="34" charset="0"/>
              <a:buChar char="•"/>
            </a:pPr>
            <a:r>
              <a:rPr lang="en-US" dirty="0" smtClean="0"/>
              <a:t>Many high-value outliers show the presence of premium customers, but they are very few.</a:t>
            </a:r>
          </a:p>
          <a:p>
            <a:endParaRPr lang="en-US" dirty="0"/>
          </a:p>
        </p:txBody>
      </p:sp>
      <p:pic>
        <p:nvPicPr>
          <p:cNvPr id="3" name="Picture 2" descr="Screenshot 2025-12-02 231742.png"/>
          <p:cNvPicPr>
            <a:picLocks noChangeAspect="1"/>
          </p:cNvPicPr>
          <p:nvPr/>
        </p:nvPicPr>
        <p:blipFill>
          <a:blip r:embed="rId2"/>
          <a:srcRect t="18076"/>
          <a:stretch>
            <a:fillRect/>
          </a:stretch>
        </p:blipFill>
        <p:spPr>
          <a:xfrm>
            <a:off x="6522720" y="741680"/>
            <a:ext cx="5201920" cy="55575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3361" y="762000"/>
            <a:ext cx="6289039" cy="4708981"/>
          </a:xfrm>
          <a:prstGeom prst="rect">
            <a:avLst/>
          </a:prstGeom>
          <a:noFill/>
        </p:spPr>
        <p:txBody>
          <a:bodyPr wrap="square" rtlCol="0">
            <a:spAutoFit/>
          </a:bodyPr>
          <a:lstStyle/>
          <a:p>
            <a:r>
              <a:rPr lang="en-US" sz="2400" b="1" dirty="0" smtClean="0"/>
              <a:t>Customer Segmentation :</a:t>
            </a:r>
          </a:p>
          <a:p>
            <a:endParaRPr lang="en-US" dirty="0" smtClean="0"/>
          </a:p>
          <a:p>
            <a:endParaRPr lang="en-US" dirty="0" smtClean="0"/>
          </a:p>
          <a:p>
            <a:pPr>
              <a:buFont typeface="Arial" pitchFamily="34" charset="0"/>
              <a:buChar char="•"/>
            </a:pPr>
            <a:r>
              <a:rPr lang="en-US" sz="2400" dirty="0" smtClean="0"/>
              <a:t>Different  clustering method are used Like K-Means ,Hierarchical clustering and DBSCAN clustering etc.</a:t>
            </a:r>
          </a:p>
          <a:p>
            <a:pPr>
              <a:buFont typeface="Arial" pitchFamily="34" charset="0"/>
              <a:buChar char="•"/>
            </a:pPr>
            <a:endParaRPr lang="en-US" sz="2400" dirty="0" smtClean="0"/>
          </a:p>
          <a:p>
            <a:endParaRPr lang="en-US" sz="2400" dirty="0" smtClean="0"/>
          </a:p>
          <a:p>
            <a:pPr>
              <a:buFont typeface="Arial" pitchFamily="34" charset="0"/>
              <a:buChar char="•"/>
            </a:pPr>
            <a:endParaRPr lang="en-US" sz="2400" dirty="0" smtClean="0"/>
          </a:p>
          <a:p>
            <a:pPr>
              <a:buFont typeface="Arial" pitchFamily="34" charset="0"/>
              <a:buChar char="•"/>
            </a:pPr>
            <a:r>
              <a:rPr lang="en-US" sz="2400" dirty="0" smtClean="0"/>
              <a:t>From the above I choose K-Means for the segmenting the customers because </a:t>
            </a:r>
            <a:r>
              <a:rPr lang="en-US" sz="2400" dirty="0" err="1" smtClean="0"/>
              <a:t>its,simple</a:t>
            </a:r>
            <a:r>
              <a:rPr lang="en-US" sz="2400" dirty="0" smtClean="0"/>
              <a:t> efficient and scale well to large datasets.</a:t>
            </a:r>
            <a:endParaRPr lang="en-US" sz="2400" dirty="0"/>
          </a:p>
        </p:txBody>
      </p:sp>
      <p:pic>
        <p:nvPicPr>
          <p:cNvPr id="3" name="Picture 2" descr="Screenshot 2025-12-02 234124.png"/>
          <p:cNvPicPr>
            <a:picLocks noChangeAspect="1"/>
          </p:cNvPicPr>
          <p:nvPr/>
        </p:nvPicPr>
        <p:blipFill>
          <a:blip r:embed="rId2"/>
          <a:stretch>
            <a:fillRect/>
          </a:stretch>
        </p:blipFill>
        <p:spPr>
          <a:xfrm>
            <a:off x="6422110" y="1439804"/>
            <a:ext cx="5475250" cy="1191636"/>
          </a:xfrm>
          <a:prstGeom prst="rect">
            <a:avLst/>
          </a:prstGeom>
        </p:spPr>
      </p:pic>
      <p:pic>
        <p:nvPicPr>
          <p:cNvPr id="4" name="Picture 3" descr="Screenshot 2025-12-02 234343.png"/>
          <p:cNvPicPr>
            <a:picLocks noChangeAspect="1"/>
          </p:cNvPicPr>
          <p:nvPr/>
        </p:nvPicPr>
        <p:blipFill>
          <a:blip r:embed="rId3"/>
          <a:stretch>
            <a:fillRect/>
          </a:stretch>
        </p:blipFill>
        <p:spPr>
          <a:xfrm>
            <a:off x="6517701" y="2829190"/>
            <a:ext cx="5339019" cy="1062090"/>
          </a:xfrm>
          <a:prstGeom prst="rect">
            <a:avLst/>
          </a:prstGeom>
        </p:spPr>
      </p:pic>
      <p:pic>
        <p:nvPicPr>
          <p:cNvPr id="5" name="Picture 4" descr="Screenshot 2025-12-02 234404.png"/>
          <p:cNvPicPr>
            <a:picLocks noChangeAspect="1"/>
          </p:cNvPicPr>
          <p:nvPr/>
        </p:nvPicPr>
        <p:blipFill>
          <a:blip r:embed="rId4"/>
          <a:stretch>
            <a:fillRect/>
          </a:stretch>
        </p:blipFill>
        <p:spPr>
          <a:xfrm>
            <a:off x="6543040" y="3931212"/>
            <a:ext cx="5303520" cy="104789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6720" y="406400"/>
            <a:ext cx="10840720" cy="6740307"/>
          </a:xfrm>
          <a:prstGeom prst="rect">
            <a:avLst/>
          </a:prstGeom>
          <a:noFill/>
        </p:spPr>
        <p:txBody>
          <a:bodyPr wrap="square" rtlCol="0">
            <a:spAutoFit/>
          </a:bodyPr>
          <a:lstStyle/>
          <a:p>
            <a:r>
              <a:rPr lang="en-US" b="1" dirty="0" smtClean="0"/>
              <a:t>Clustering –</a:t>
            </a:r>
          </a:p>
          <a:p>
            <a:r>
              <a:rPr lang="en-US" dirty="0" smtClean="0"/>
              <a:t/>
            </a:r>
            <a:br>
              <a:rPr lang="en-US" dirty="0" smtClean="0"/>
            </a:br>
            <a:r>
              <a:rPr lang="en-US" b="1" dirty="0" smtClean="0"/>
              <a:t>Definition:</a:t>
            </a:r>
            <a:r>
              <a:rPr lang="en-US" dirty="0" smtClean="0"/>
              <a:t> Clustering is a machine learning technique that groups similar data points based on their features.</a:t>
            </a:r>
          </a:p>
          <a:p>
            <a:r>
              <a:rPr lang="en-US" dirty="0" smtClean="0"/>
              <a:t/>
            </a:r>
            <a:br>
              <a:rPr lang="en-US" dirty="0" smtClean="0"/>
            </a:br>
            <a:r>
              <a:rPr lang="en-US" b="1" dirty="0" smtClean="0"/>
              <a:t>Purpose:</a:t>
            </a:r>
          </a:p>
          <a:p>
            <a:r>
              <a:rPr lang="en-US" dirty="0" smtClean="0"/>
              <a:t/>
            </a:r>
            <a:br>
              <a:rPr lang="en-US" dirty="0" smtClean="0"/>
            </a:br>
            <a:r>
              <a:rPr lang="en-US" dirty="0" smtClean="0"/>
              <a:t>• Organize data into meaningful structures</a:t>
            </a:r>
          </a:p>
          <a:p>
            <a:r>
              <a:rPr lang="en-US" dirty="0" smtClean="0"/>
              <a:t/>
            </a:r>
            <a:br>
              <a:rPr lang="en-US" dirty="0" smtClean="0"/>
            </a:br>
            <a:r>
              <a:rPr lang="en-US" dirty="0" smtClean="0"/>
              <a:t>• Identify hidden patterns, trends, or customer groups</a:t>
            </a:r>
          </a:p>
          <a:p>
            <a:r>
              <a:rPr lang="en-US" dirty="0" smtClean="0"/>
              <a:t/>
            </a:r>
            <a:br>
              <a:rPr lang="en-US" dirty="0" smtClean="0"/>
            </a:br>
            <a:r>
              <a:rPr lang="en-US" dirty="0" smtClean="0"/>
              <a:t>• Simplify complex datasets for easier analysis and decision-making.</a:t>
            </a:r>
          </a:p>
          <a:p>
            <a:endParaRPr lang="en-US" dirty="0" smtClean="0"/>
          </a:p>
          <a:p>
            <a:r>
              <a:rPr lang="en-US" b="1" dirty="0" smtClean="0"/>
              <a:t>Why Are We Using Clustering?</a:t>
            </a:r>
          </a:p>
          <a:p>
            <a:r>
              <a:rPr lang="en-US" dirty="0" smtClean="0"/>
              <a:t/>
            </a:r>
            <a:br>
              <a:rPr lang="en-US" dirty="0" smtClean="0"/>
            </a:br>
            <a:r>
              <a:rPr lang="en-US" dirty="0" smtClean="0"/>
              <a:t>• </a:t>
            </a:r>
            <a:r>
              <a:rPr lang="en-US" b="1" dirty="0" smtClean="0"/>
              <a:t>Customer Segmentation:</a:t>
            </a:r>
            <a:r>
              <a:rPr lang="en-US" dirty="0" smtClean="0"/>
              <a:t> Understand customer behavior by grouping customers with similar purchasing patterns.</a:t>
            </a:r>
          </a:p>
          <a:p>
            <a:r>
              <a:rPr lang="en-US" dirty="0" smtClean="0"/>
              <a:t/>
            </a:r>
            <a:br>
              <a:rPr lang="en-US" dirty="0" smtClean="0"/>
            </a:br>
            <a:r>
              <a:rPr lang="en-US" dirty="0" smtClean="0"/>
              <a:t>• </a:t>
            </a:r>
            <a:r>
              <a:rPr lang="en-US" b="1" dirty="0" smtClean="0"/>
              <a:t>Tailored Marketing:</a:t>
            </a:r>
            <a:r>
              <a:rPr lang="en-US" dirty="0" smtClean="0"/>
              <a:t> Create targeted marketing strategies for each customer segment.</a:t>
            </a:r>
          </a:p>
          <a:p>
            <a:r>
              <a:rPr lang="en-US" dirty="0" smtClean="0"/>
              <a:t/>
            </a:r>
            <a:br>
              <a:rPr lang="en-US" dirty="0" smtClean="0"/>
            </a:br>
            <a:r>
              <a:rPr lang="en-US" dirty="0" smtClean="0"/>
              <a:t>• </a:t>
            </a:r>
            <a:r>
              <a:rPr lang="en-US" b="1" dirty="0" smtClean="0"/>
              <a:t>Data Simplification:</a:t>
            </a:r>
            <a:r>
              <a:rPr lang="en-US" dirty="0" smtClean="0"/>
              <a:t> Reduce dataset complexity by representing data through clusters.</a:t>
            </a:r>
          </a:p>
          <a:p>
            <a:r>
              <a:rPr lang="en-US" dirty="0" smtClean="0"/>
              <a:t/>
            </a:r>
            <a:br>
              <a:rPr lang="en-US" dirty="0" smtClean="0"/>
            </a:br>
            <a:r>
              <a:rPr lang="en-US" dirty="0" smtClean="0"/>
              <a:t>• </a:t>
            </a:r>
            <a:r>
              <a:rPr lang="en-US" b="1" dirty="0" smtClean="0"/>
              <a:t>Anomaly Detection:</a:t>
            </a:r>
            <a:r>
              <a:rPr lang="en-US" dirty="0" smtClean="0"/>
              <a:t> Find unusual behaviors or outliers in data.</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2025-12-03 010945.png"/>
          <p:cNvPicPr>
            <a:picLocks noChangeAspect="1"/>
          </p:cNvPicPr>
          <p:nvPr/>
        </p:nvPicPr>
        <p:blipFill>
          <a:blip r:embed="rId2"/>
          <a:stretch>
            <a:fillRect/>
          </a:stretch>
        </p:blipFill>
        <p:spPr>
          <a:xfrm>
            <a:off x="426720" y="150886"/>
            <a:ext cx="11521440" cy="570256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879" y="447040"/>
            <a:ext cx="10617201" cy="2308324"/>
          </a:xfrm>
          <a:prstGeom prst="rect">
            <a:avLst/>
          </a:prstGeom>
          <a:noFill/>
        </p:spPr>
        <p:txBody>
          <a:bodyPr wrap="square" rtlCol="0">
            <a:spAutoFit/>
          </a:bodyPr>
          <a:lstStyle/>
          <a:p>
            <a:r>
              <a:rPr lang="en-US" sz="2400" b="1" dirty="0" err="1" smtClean="0"/>
              <a:t>Determinig</a:t>
            </a:r>
            <a:r>
              <a:rPr lang="en-US" sz="2400" b="1" dirty="0" smtClean="0"/>
              <a:t> the optimal number of clusters – Elbow Method</a:t>
            </a:r>
          </a:p>
          <a:p>
            <a:endParaRPr lang="en-US" sz="2400" b="1" dirty="0" smtClean="0"/>
          </a:p>
          <a:p>
            <a:pPr>
              <a:buFont typeface="Arial" pitchFamily="34" charset="0"/>
              <a:buChar char="•"/>
            </a:pPr>
            <a:r>
              <a:rPr lang="en-US" sz="2400" dirty="0" smtClean="0"/>
              <a:t>Elbow Curve : Used to determine the optimal number of clusters by plotting the inertia for different values of k.</a:t>
            </a:r>
          </a:p>
          <a:p>
            <a:pPr>
              <a:buFont typeface="Arial" pitchFamily="34" charset="0"/>
              <a:buChar char="•"/>
            </a:pPr>
            <a:endParaRPr lang="en-US" sz="2400" dirty="0" smtClean="0"/>
          </a:p>
          <a:p>
            <a:pPr>
              <a:buFont typeface="Arial" pitchFamily="34" charset="0"/>
              <a:buChar char="•"/>
            </a:pPr>
            <a:r>
              <a:rPr lang="en-US" sz="2400" dirty="0" smtClean="0"/>
              <a:t>The “elbow” of the curve shows the optimal number of clusters.</a:t>
            </a:r>
            <a:endParaRPr lang="en-US" sz="2400" dirty="0"/>
          </a:p>
        </p:txBody>
      </p:sp>
      <p:pic>
        <p:nvPicPr>
          <p:cNvPr id="3" name="Picture 2" descr="Screenshot 2025-12-03 000855.png"/>
          <p:cNvPicPr>
            <a:picLocks noChangeAspect="1"/>
          </p:cNvPicPr>
          <p:nvPr/>
        </p:nvPicPr>
        <p:blipFill>
          <a:blip r:embed="rId2"/>
          <a:stretch>
            <a:fillRect/>
          </a:stretch>
        </p:blipFill>
        <p:spPr>
          <a:xfrm>
            <a:off x="0" y="2825672"/>
            <a:ext cx="4846320" cy="1797127"/>
          </a:xfrm>
          <a:prstGeom prst="rect">
            <a:avLst/>
          </a:prstGeom>
        </p:spPr>
      </p:pic>
      <p:pic>
        <p:nvPicPr>
          <p:cNvPr id="4" name="Picture 3" descr="Screenshot 2025-12-03 000906.png"/>
          <p:cNvPicPr>
            <a:picLocks noChangeAspect="1"/>
          </p:cNvPicPr>
          <p:nvPr/>
        </p:nvPicPr>
        <p:blipFill>
          <a:blip r:embed="rId3"/>
          <a:stretch>
            <a:fillRect/>
          </a:stretch>
        </p:blipFill>
        <p:spPr>
          <a:xfrm>
            <a:off x="152401" y="4664938"/>
            <a:ext cx="4653280" cy="2193061"/>
          </a:xfrm>
          <a:prstGeom prst="rect">
            <a:avLst/>
          </a:prstGeom>
        </p:spPr>
      </p:pic>
      <p:pic>
        <p:nvPicPr>
          <p:cNvPr id="5" name="Picture 4" descr="Screenshot 2025-12-03 000913.png"/>
          <p:cNvPicPr>
            <a:picLocks noChangeAspect="1"/>
          </p:cNvPicPr>
          <p:nvPr/>
        </p:nvPicPr>
        <p:blipFill>
          <a:blip r:embed="rId4"/>
          <a:stretch>
            <a:fillRect/>
          </a:stretch>
        </p:blipFill>
        <p:spPr>
          <a:xfrm>
            <a:off x="4917440" y="2915920"/>
            <a:ext cx="6906470" cy="394208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345440"/>
            <a:ext cx="10149840" cy="3170099"/>
          </a:xfrm>
          <a:prstGeom prst="rect">
            <a:avLst/>
          </a:prstGeom>
          <a:noFill/>
        </p:spPr>
        <p:txBody>
          <a:bodyPr wrap="square" rtlCol="0">
            <a:spAutoFit/>
          </a:bodyPr>
          <a:lstStyle/>
          <a:p>
            <a:r>
              <a:rPr lang="en-US" b="1" dirty="0" smtClean="0"/>
              <a:t>Customer Segmentation Based on RFM:</a:t>
            </a:r>
          </a:p>
          <a:p>
            <a:r>
              <a:rPr lang="en-US" sz="1600" dirty="0" smtClean="0"/>
              <a:t>“Customers are segmented into meaningful groups based on their </a:t>
            </a:r>
            <a:r>
              <a:rPr lang="en-US" sz="1600" dirty="0" err="1" smtClean="0"/>
              <a:t>Recency</a:t>
            </a:r>
            <a:r>
              <a:rPr lang="en-US" sz="1600" dirty="0" smtClean="0"/>
              <a:t>, Frequency, and Monetary values.”</a:t>
            </a:r>
          </a:p>
          <a:p>
            <a:endParaRPr lang="en-US" sz="1600" dirty="0" smtClean="0"/>
          </a:p>
          <a:p>
            <a:r>
              <a:rPr lang="en-US" sz="1600" dirty="0" smtClean="0"/>
              <a:t>“Segmentation helps in identifying high-value, loyal, inactive, and low-value customers for targeted marketing.”</a:t>
            </a:r>
          </a:p>
          <a:p>
            <a:endParaRPr lang="en-US" sz="1600" dirty="0" smtClean="0"/>
          </a:p>
          <a:p>
            <a:pPr>
              <a:buFont typeface="Arial" pitchFamily="34" charset="0"/>
              <a:buChar char="•"/>
            </a:pPr>
            <a:r>
              <a:rPr lang="en-US" sz="1600" b="1" dirty="0" smtClean="0"/>
              <a:t>VIP Customers:</a:t>
            </a:r>
            <a:r>
              <a:rPr lang="en-US" sz="1600" dirty="0" smtClean="0"/>
              <a:t> Recent purchase is high (low </a:t>
            </a:r>
            <a:r>
              <a:rPr lang="en-US" sz="1600" dirty="0" err="1" smtClean="0"/>
              <a:t>Recency</a:t>
            </a:r>
            <a:r>
              <a:rPr lang="en-US" sz="1600" dirty="0" smtClean="0"/>
              <a:t>), frequent purchase, high monetary value.</a:t>
            </a:r>
          </a:p>
          <a:p>
            <a:pPr>
              <a:buFont typeface="Arial" pitchFamily="34" charset="0"/>
              <a:buChar char="•"/>
            </a:pPr>
            <a:r>
              <a:rPr lang="en-US" sz="1600" b="1" dirty="0" smtClean="0"/>
              <a:t>Loyal Customers:</a:t>
            </a:r>
            <a:r>
              <a:rPr lang="en-US" sz="1600" dirty="0" smtClean="0"/>
              <a:t> Recent purchase is high (low </a:t>
            </a:r>
            <a:r>
              <a:rPr lang="en-US" sz="1600" dirty="0" err="1" smtClean="0"/>
              <a:t>Recency</a:t>
            </a:r>
            <a:r>
              <a:rPr lang="en-US" sz="1600" dirty="0" smtClean="0"/>
              <a:t>), frequent purchase, monetary value moderate.</a:t>
            </a:r>
          </a:p>
          <a:p>
            <a:pPr>
              <a:buFont typeface="Arial" pitchFamily="34" charset="0"/>
              <a:buChar char="•"/>
            </a:pPr>
            <a:r>
              <a:rPr lang="en-US" sz="1600" b="1" dirty="0" smtClean="0"/>
              <a:t>Inactive Customers:</a:t>
            </a:r>
            <a:r>
              <a:rPr lang="en-US" sz="1600" dirty="0" smtClean="0"/>
              <a:t> Haven’t purchased recently (high </a:t>
            </a:r>
            <a:r>
              <a:rPr lang="en-US" sz="1600" dirty="0" err="1" smtClean="0"/>
              <a:t>Recency</a:t>
            </a:r>
            <a:r>
              <a:rPr lang="en-US" sz="1600" dirty="0" smtClean="0"/>
              <a:t>), low frequency.</a:t>
            </a:r>
          </a:p>
          <a:p>
            <a:pPr>
              <a:buFont typeface="Arial" pitchFamily="34" charset="0"/>
              <a:buChar char="•"/>
            </a:pPr>
            <a:r>
              <a:rPr lang="en-US" sz="1600" b="1" dirty="0" smtClean="0"/>
              <a:t>Low Value Customers:</a:t>
            </a:r>
            <a:r>
              <a:rPr lang="en-US" sz="1600" dirty="0" smtClean="0"/>
              <a:t> Customers who do not fit in above categories (low frequency, low monetary value).</a:t>
            </a:r>
          </a:p>
          <a:p>
            <a:endParaRPr lang="en-US" dirty="0" smtClean="0"/>
          </a:p>
          <a:p>
            <a:endParaRPr lang="en-US" dirty="0" smtClean="0"/>
          </a:p>
          <a:p>
            <a:endParaRPr lang="en-US" dirty="0"/>
          </a:p>
        </p:txBody>
      </p:sp>
      <p:pic>
        <p:nvPicPr>
          <p:cNvPr id="4" name="Picture 3" descr="Screenshot 2025-12-03 003553.png"/>
          <p:cNvPicPr>
            <a:picLocks noChangeAspect="1"/>
          </p:cNvPicPr>
          <p:nvPr/>
        </p:nvPicPr>
        <p:blipFill>
          <a:blip r:embed="rId2"/>
          <a:stretch>
            <a:fillRect/>
          </a:stretch>
        </p:blipFill>
        <p:spPr>
          <a:xfrm>
            <a:off x="1134746" y="2675941"/>
            <a:ext cx="10051413" cy="418205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6679" y="533401"/>
            <a:ext cx="5994401" cy="3570208"/>
          </a:xfrm>
          <a:prstGeom prst="rect">
            <a:avLst/>
          </a:prstGeom>
          <a:noFill/>
        </p:spPr>
        <p:txBody>
          <a:bodyPr wrap="square" rtlCol="0">
            <a:spAutoFit/>
          </a:bodyPr>
          <a:lstStyle/>
          <a:p>
            <a:r>
              <a:rPr lang="en-US" sz="2800" b="1" dirty="0" smtClean="0"/>
              <a:t>3D Scatter Plot of RFM Clusters:</a:t>
            </a:r>
          </a:p>
          <a:p>
            <a:endParaRPr lang="en-US" b="1" dirty="0" smtClean="0"/>
          </a:p>
          <a:p>
            <a:r>
              <a:rPr lang="en-US" dirty="0" smtClean="0"/>
              <a:t>“This 3D scatter plot visualizes customers based on </a:t>
            </a:r>
            <a:r>
              <a:rPr lang="en-US" b="1" dirty="0" err="1" smtClean="0"/>
              <a:t>Recency</a:t>
            </a:r>
            <a:r>
              <a:rPr lang="en-US" b="1" dirty="0" smtClean="0"/>
              <a:t> (R), Frequency (F), and Monetary (M)</a:t>
            </a:r>
            <a:r>
              <a:rPr lang="en-US" dirty="0" smtClean="0"/>
              <a:t> values.”</a:t>
            </a:r>
          </a:p>
          <a:p>
            <a:endParaRPr lang="en-US" dirty="0" smtClean="0"/>
          </a:p>
          <a:p>
            <a:endParaRPr lang="en-US" dirty="0" smtClean="0"/>
          </a:p>
          <a:p>
            <a:r>
              <a:rPr lang="en-US" dirty="0" smtClean="0"/>
              <a:t>“Different colors represent different </a:t>
            </a:r>
            <a:r>
              <a:rPr lang="en-US" b="1" dirty="0" smtClean="0"/>
              <a:t>K-Means clusters</a:t>
            </a:r>
            <a:r>
              <a:rPr lang="en-US" dirty="0" smtClean="0"/>
              <a:t>.</a:t>
            </a:r>
          </a:p>
          <a:p>
            <a:endParaRPr lang="en-US" b="1" dirty="0" smtClean="0"/>
          </a:p>
          <a:p>
            <a:endParaRPr lang="en-US" b="1" dirty="0" smtClean="0"/>
          </a:p>
          <a:p>
            <a:endParaRPr lang="en-US" b="1" dirty="0" smtClean="0"/>
          </a:p>
          <a:p>
            <a:endParaRPr lang="en-US" b="1" dirty="0"/>
          </a:p>
        </p:txBody>
      </p:sp>
      <p:pic>
        <p:nvPicPr>
          <p:cNvPr id="4" name="Picture 3" descr="Screenshot 2025-12-03 004540.png"/>
          <p:cNvPicPr>
            <a:picLocks noChangeAspect="1"/>
          </p:cNvPicPr>
          <p:nvPr/>
        </p:nvPicPr>
        <p:blipFill>
          <a:blip r:embed="rId2"/>
          <a:stretch>
            <a:fillRect/>
          </a:stretch>
        </p:blipFill>
        <p:spPr>
          <a:xfrm>
            <a:off x="5722619" y="1142638"/>
            <a:ext cx="5894815" cy="547152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64160"/>
            <a:ext cx="12192000" cy="1754326"/>
          </a:xfrm>
          <a:prstGeom prst="rect">
            <a:avLst/>
          </a:prstGeom>
          <a:noFill/>
        </p:spPr>
        <p:txBody>
          <a:bodyPr wrap="square" rtlCol="0">
            <a:spAutoFit/>
          </a:bodyPr>
          <a:lstStyle/>
          <a:p>
            <a:r>
              <a:rPr lang="en-US" b="1" dirty="0" smtClean="0"/>
              <a:t>Model Prediction :</a:t>
            </a:r>
          </a:p>
          <a:p>
            <a:endParaRPr lang="en-US" dirty="0" smtClean="0"/>
          </a:p>
          <a:p>
            <a:r>
              <a:rPr lang="en-US" dirty="0" smtClean="0"/>
              <a:t>For prediction we can use different models, here I have used logistic regression, </a:t>
            </a:r>
            <a:r>
              <a:rPr lang="en-US" dirty="0" err="1" smtClean="0"/>
              <a:t>Decission</a:t>
            </a:r>
            <a:r>
              <a:rPr lang="en-US" dirty="0" smtClean="0"/>
              <a:t> </a:t>
            </a:r>
            <a:r>
              <a:rPr lang="en-US" dirty="0" err="1" smtClean="0"/>
              <a:t>Tree,Random</a:t>
            </a:r>
            <a:r>
              <a:rPr lang="en-US" dirty="0" smtClean="0"/>
              <a:t> Forest.</a:t>
            </a:r>
          </a:p>
          <a:p>
            <a:endParaRPr lang="en-US" dirty="0" smtClean="0"/>
          </a:p>
          <a:p>
            <a:r>
              <a:rPr lang="en-US" dirty="0" smtClean="0"/>
              <a:t>The accuracy of the models:</a:t>
            </a:r>
          </a:p>
          <a:p>
            <a:endParaRPr lang="en-US" dirty="0"/>
          </a:p>
        </p:txBody>
      </p:sp>
      <p:pic>
        <p:nvPicPr>
          <p:cNvPr id="3" name="Picture 2" descr="Screenshot 2025-12-03 005539.png"/>
          <p:cNvPicPr>
            <a:picLocks noChangeAspect="1"/>
          </p:cNvPicPr>
          <p:nvPr/>
        </p:nvPicPr>
        <p:blipFill>
          <a:blip r:embed="rId2"/>
          <a:stretch>
            <a:fillRect/>
          </a:stretch>
        </p:blipFill>
        <p:spPr>
          <a:xfrm>
            <a:off x="0" y="2122446"/>
            <a:ext cx="6528200" cy="1443714"/>
          </a:xfrm>
          <a:prstGeom prst="rect">
            <a:avLst/>
          </a:prstGeom>
        </p:spPr>
      </p:pic>
      <p:sp>
        <p:nvSpPr>
          <p:cNvPr id="4" name="TextBox 3"/>
          <p:cNvSpPr txBox="1"/>
          <p:nvPr/>
        </p:nvSpPr>
        <p:spPr>
          <a:xfrm>
            <a:off x="0" y="3911600"/>
            <a:ext cx="11431334" cy="646331"/>
          </a:xfrm>
          <a:prstGeom prst="rect">
            <a:avLst/>
          </a:prstGeom>
          <a:noFill/>
        </p:spPr>
        <p:txBody>
          <a:bodyPr wrap="none" rtlCol="0">
            <a:spAutoFit/>
          </a:bodyPr>
          <a:lstStyle/>
          <a:p>
            <a:r>
              <a:rPr lang="en-US" dirty="0" smtClean="0"/>
              <a:t>Random Forest achieved the </a:t>
            </a:r>
            <a:r>
              <a:rPr lang="en-US" b="1" dirty="0" smtClean="0"/>
              <a:t>highest accuracy</a:t>
            </a:r>
            <a:r>
              <a:rPr lang="en-US" dirty="0" smtClean="0"/>
              <a:t> and most reliable </a:t>
            </a:r>
            <a:r>
              <a:rPr lang="en-US" dirty="0" err="1" smtClean="0"/>
              <a:t>predictions.Now</a:t>
            </a:r>
            <a:r>
              <a:rPr lang="en-US" dirty="0" smtClean="0"/>
              <a:t> we choose Random forest.</a:t>
            </a:r>
          </a:p>
          <a:p>
            <a:endParaRPr lang="en-US" dirty="0"/>
          </a:p>
        </p:txBody>
      </p:sp>
      <p:pic>
        <p:nvPicPr>
          <p:cNvPr id="5" name="Picture 4" descr="Screenshot 2025-12-03 010209.png"/>
          <p:cNvPicPr>
            <a:picLocks noChangeAspect="1"/>
          </p:cNvPicPr>
          <p:nvPr/>
        </p:nvPicPr>
        <p:blipFill>
          <a:blip r:embed="rId3"/>
          <a:stretch>
            <a:fillRect/>
          </a:stretch>
        </p:blipFill>
        <p:spPr>
          <a:xfrm>
            <a:off x="2051060" y="4371628"/>
            <a:ext cx="8860779" cy="248637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56640" y="528320"/>
            <a:ext cx="2146742" cy="369332"/>
          </a:xfrm>
          <a:prstGeom prst="rect">
            <a:avLst/>
          </a:prstGeom>
          <a:noFill/>
        </p:spPr>
        <p:txBody>
          <a:bodyPr wrap="none" rtlCol="0">
            <a:spAutoFit/>
          </a:bodyPr>
          <a:lstStyle/>
          <a:p>
            <a:r>
              <a:rPr lang="en-US" b="1" dirty="0" smtClean="0"/>
              <a:t>Confusion matrix</a:t>
            </a:r>
            <a:r>
              <a:rPr lang="en-US" dirty="0" smtClean="0"/>
              <a:t>:</a:t>
            </a:r>
            <a:endParaRPr lang="en-US" dirty="0"/>
          </a:p>
        </p:txBody>
      </p:sp>
      <p:pic>
        <p:nvPicPr>
          <p:cNvPr id="3" name="Picture 2" descr="Screenshot 2025-12-03 010405.png"/>
          <p:cNvPicPr>
            <a:picLocks noChangeAspect="1"/>
          </p:cNvPicPr>
          <p:nvPr/>
        </p:nvPicPr>
        <p:blipFill>
          <a:blip r:embed="rId2"/>
          <a:stretch>
            <a:fillRect/>
          </a:stretch>
        </p:blipFill>
        <p:spPr>
          <a:xfrm>
            <a:off x="1038144" y="963951"/>
            <a:ext cx="5531778" cy="4187169"/>
          </a:xfrm>
          <a:prstGeom prst="rect">
            <a:avLst/>
          </a:prstGeom>
        </p:spPr>
      </p:pic>
      <p:sp>
        <p:nvSpPr>
          <p:cNvPr id="4" name="TextBox 3"/>
          <p:cNvSpPr txBox="1"/>
          <p:nvPr/>
        </p:nvSpPr>
        <p:spPr>
          <a:xfrm>
            <a:off x="721361" y="5212080"/>
            <a:ext cx="11470640" cy="1200329"/>
          </a:xfrm>
          <a:prstGeom prst="rect">
            <a:avLst/>
          </a:prstGeom>
          <a:noFill/>
        </p:spPr>
        <p:txBody>
          <a:bodyPr wrap="square" rtlCol="0">
            <a:spAutoFit/>
          </a:bodyPr>
          <a:lstStyle/>
          <a:p>
            <a:r>
              <a:rPr lang="en-US" b="1" dirty="0" err="1" smtClean="0"/>
              <a:t>Hyperparameter</a:t>
            </a:r>
            <a:r>
              <a:rPr lang="en-US" b="1" dirty="0" smtClean="0"/>
              <a:t> Tuning:</a:t>
            </a:r>
          </a:p>
          <a:p>
            <a:r>
              <a:rPr lang="en-US" b="1" dirty="0" smtClean="0"/>
              <a:t>Current model:</a:t>
            </a:r>
          </a:p>
          <a:p>
            <a:r>
              <a:rPr lang="en-US" dirty="0" smtClean="0"/>
              <a:t> Random Forest  Accuracy: 98% Further improvement is possible by tuning parameters like </a:t>
            </a:r>
            <a:r>
              <a:rPr lang="en-US" dirty="0" err="1" smtClean="0"/>
              <a:t>n_estimators</a:t>
            </a:r>
            <a:r>
              <a:rPr lang="en-US" dirty="0" smtClean="0"/>
              <a:t>, </a:t>
            </a:r>
            <a:r>
              <a:rPr lang="en-US" dirty="0" err="1" smtClean="0"/>
              <a:t>max_depth</a:t>
            </a:r>
            <a:r>
              <a:rPr lang="en-US" dirty="0" smtClean="0"/>
              <a:t>, or </a:t>
            </a:r>
            <a:r>
              <a:rPr lang="en-US" dirty="0" err="1" smtClean="0"/>
              <a:t>min_samples_split</a:t>
            </a:r>
            <a:r>
              <a:rPr lang="en-US" dirty="0" smtClean="0"/>
              <a:t>, but current model already performs excellently.*</a:t>
            </a:r>
            <a:endParaRPr lang="en-US" dirty="0"/>
          </a:p>
        </p:txBody>
      </p:sp>
      <p:pic>
        <p:nvPicPr>
          <p:cNvPr id="5" name="Picture 4" descr="Screenshot 2025-12-03 013751.png"/>
          <p:cNvPicPr>
            <a:picLocks noChangeAspect="1"/>
          </p:cNvPicPr>
          <p:nvPr/>
        </p:nvPicPr>
        <p:blipFill>
          <a:blip r:embed="rId3"/>
          <a:stretch>
            <a:fillRect/>
          </a:stretch>
        </p:blipFill>
        <p:spPr>
          <a:xfrm>
            <a:off x="5757959" y="822960"/>
            <a:ext cx="6434041" cy="441422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1" y="375920"/>
            <a:ext cx="4582159" cy="3970318"/>
          </a:xfrm>
          <a:prstGeom prst="rect">
            <a:avLst/>
          </a:prstGeom>
          <a:noFill/>
        </p:spPr>
        <p:txBody>
          <a:bodyPr wrap="square" rtlCol="0">
            <a:spAutoFit/>
          </a:bodyPr>
          <a:lstStyle/>
          <a:p>
            <a:r>
              <a:rPr lang="en-US" b="1" dirty="0" smtClean="0"/>
              <a:t>E-Commerce Customer Segmentation and Prediction App (</a:t>
            </a:r>
            <a:r>
              <a:rPr lang="en-US" b="1" dirty="0" err="1" smtClean="0"/>
              <a:t>Streamlit</a:t>
            </a:r>
            <a:r>
              <a:rPr lang="en-US" b="1" dirty="0" smtClean="0"/>
              <a:t> Deployment):</a:t>
            </a:r>
          </a:p>
          <a:p>
            <a:endParaRPr lang="en-US" dirty="0" smtClean="0"/>
          </a:p>
          <a:p>
            <a:r>
              <a:rPr lang="en-US" dirty="0" smtClean="0"/>
              <a:t>App functionality:</a:t>
            </a:r>
          </a:p>
          <a:p>
            <a:endParaRPr lang="en-US" dirty="0" smtClean="0"/>
          </a:p>
          <a:p>
            <a:pPr marL="342900" indent="-342900">
              <a:buAutoNum type="arabicPeriod"/>
            </a:pPr>
            <a:r>
              <a:rPr lang="en-US" dirty="0" smtClean="0"/>
              <a:t>Upload Data (CSV)</a:t>
            </a:r>
          </a:p>
          <a:p>
            <a:pPr marL="342900" indent="-342900">
              <a:buFont typeface="+mj-lt"/>
              <a:buAutoNum type="arabicPeriod"/>
            </a:pPr>
            <a:endParaRPr lang="en-US" dirty="0" smtClean="0"/>
          </a:p>
          <a:p>
            <a:pPr marL="342900" indent="-342900">
              <a:buAutoNum type="arabicPeriod"/>
            </a:pPr>
            <a:r>
              <a:rPr lang="en-US" dirty="0" smtClean="0"/>
              <a:t> Train Model (calls </a:t>
            </a:r>
            <a:r>
              <a:rPr lang="en-US" dirty="0" err="1" smtClean="0"/>
              <a:t>load_data</a:t>
            </a:r>
            <a:r>
              <a:rPr lang="en-US" dirty="0" smtClean="0"/>
              <a:t>(), </a:t>
            </a:r>
            <a:r>
              <a:rPr lang="en-US" dirty="0" err="1" smtClean="0"/>
              <a:t>create_rfm</a:t>
            </a:r>
            <a:r>
              <a:rPr lang="en-US" dirty="0" smtClean="0"/>
              <a:t>(), </a:t>
            </a:r>
            <a:r>
              <a:rPr lang="en-US" dirty="0" err="1" smtClean="0"/>
              <a:t>preprocess_rfm</a:t>
            </a:r>
            <a:r>
              <a:rPr lang="en-US" dirty="0" smtClean="0"/>
              <a:t>(), </a:t>
            </a:r>
            <a:r>
              <a:rPr lang="en-US" dirty="0" err="1" smtClean="0"/>
              <a:t>train_kmeans</a:t>
            </a:r>
            <a:r>
              <a:rPr lang="en-US" dirty="0" smtClean="0"/>
              <a:t>())</a:t>
            </a:r>
          </a:p>
          <a:p>
            <a:pPr marL="342900" indent="-342900">
              <a:buFont typeface="+mj-lt"/>
              <a:buAutoNum type="arabicPeriod"/>
            </a:pPr>
            <a:endParaRPr lang="en-US" dirty="0" smtClean="0"/>
          </a:p>
          <a:p>
            <a:pPr marL="342900" indent="-342900">
              <a:buAutoNum type="arabicPeriod"/>
            </a:pPr>
            <a:r>
              <a:rPr lang="en-US" dirty="0" smtClean="0"/>
              <a:t> Predict Segment (enter </a:t>
            </a:r>
            <a:r>
              <a:rPr lang="en-US" dirty="0" err="1" smtClean="0"/>
              <a:t>Recency</a:t>
            </a:r>
            <a:r>
              <a:rPr lang="en-US" dirty="0" smtClean="0"/>
              <a:t>, Frequency, Monetary → </a:t>
            </a:r>
            <a:r>
              <a:rPr lang="en-US" dirty="0" err="1" smtClean="0"/>
              <a:t>model.predict</a:t>
            </a:r>
            <a:r>
              <a:rPr lang="en-US" dirty="0" smtClean="0"/>
              <a:t>)</a:t>
            </a:r>
            <a:endParaRPr lang="en-US" dirty="0"/>
          </a:p>
        </p:txBody>
      </p:sp>
      <p:pic>
        <p:nvPicPr>
          <p:cNvPr id="3" name="Picture 2" descr="Screenshot 2025-12-03 013120.png"/>
          <p:cNvPicPr>
            <a:picLocks noChangeAspect="1"/>
          </p:cNvPicPr>
          <p:nvPr/>
        </p:nvPicPr>
        <p:blipFill>
          <a:blip r:embed="rId2"/>
          <a:stretch>
            <a:fillRect/>
          </a:stretch>
        </p:blipFill>
        <p:spPr>
          <a:xfrm>
            <a:off x="5201920" y="193040"/>
            <a:ext cx="6954477" cy="666496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30"/>
          <p:cNvSpPr/>
          <p:nvPr/>
        </p:nvSpPr>
        <p:spPr>
          <a:xfrm>
            <a:off x="3437811" y="6244193"/>
            <a:ext cx="4441825" cy="339725"/>
          </a:xfrm>
          <a:prstGeom prst="rect">
            <a:avLst/>
          </a:prstGeom>
          <a:noFill/>
          <a:ln w="0" cap="flat">
            <a:noFill/>
            <a:prstDash val="solid"/>
            <a:miter lim="0"/>
          </a:ln>
        </p:spPr>
        <p:txBody>
          <a:bodyPr vert="horz" wrap="square" lIns="0" tIns="0" rIns="0" bIns="0"/>
          <a:lstStyle/>
          <a:p>
            <a:pPr algn="l" rtl="0" eaLnBrk="0">
              <a:lnSpc>
                <a:spcPct val="76759"/>
              </a:lnSpc>
              <a:tabLst/>
            </a:pPr>
            <a:endParaRPr sz="100" dirty="0">
              <a:latin typeface="Arial"/>
              <a:ea typeface="Arial"/>
              <a:cs typeface="Arial"/>
            </a:endParaRPr>
          </a:p>
          <a:p>
            <a:pPr marL="12700" indent="97789" algn="l" rtl="0" eaLnBrk="0">
              <a:lnSpc>
                <a:spcPct val="94000"/>
              </a:lnSpc>
              <a:tabLst/>
            </a:pPr>
            <a:r>
              <a:rPr sz="1100" kern="0" spc="-10" dirty="0">
                <a:solidFill>
                  <a:srgbClr val="AFABAB">
                    <a:alpha val="100000"/>
                  </a:srgbClr>
                </a:solidFill>
                <a:latin typeface="Calibri"/>
                <a:ea typeface="Calibri"/>
                <a:cs typeface="Calibri"/>
              </a:rPr>
              <a:t>belongs to</a:t>
            </a:r>
            <a:r>
              <a:rPr sz="1100" kern="0" spc="14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Boston</a:t>
            </a:r>
            <a:r>
              <a:rPr sz="1100" kern="0" spc="7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Institute of Analytics</a:t>
            </a:r>
            <a:r>
              <a:rPr sz="1100" kern="0" spc="8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LLC. Any</a:t>
            </a:r>
            <a:r>
              <a:rPr sz="1100" kern="0" spc="7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unauthorized sharing of this</a:t>
            </a:r>
            <a:r>
              <a:rPr sz="1100" kern="0" spc="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under</a:t>
            </a:r>
            <a:r>
              <a:rPr sz="1100" kern="0" spc="18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breach of</a:t>
            </a:r>
            <a:r>
              <a:rPr sz="1100" kern="0" spc="9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IP and confidentiality clauses.</a:t>
            </a:r>
            <a:endParaRPr sz="1100" dirty="0">
              <a:latin typeface="Calibri"/>
              <a:ea typeface="Calibri"/>
              <a:cs typeface="Calibri"/>
            </a:endParaRPr>
          </a:p>
        </p:txBody>
      </p:sp>
      <p:pic>
        <p:nvPicPr>
          <p:cNvPr id="32" name="picture 32"/>
          <p:cNvPicPr>
            <a:picLocks noChangeAspect="1"/>
          </p:cNvPicPr>
          <p:nvPr/>
        </p:nvPicPr>
        <p:blipFill>
          <a:blip r:embed="rId2"/>
          <a:stretch>
            <a:fillRect/>
          </a:stretch>
        </p:blipFill>
        <p:spPr>
          <a:xfrm rot="21600000">
            <a:off x="4763" y="3625"/>
            <a:ext cx="4121098" cy="6854372"/>
          </a:xfrm>
          <a:prstGeom prst="rect">
            <a:avLst/>
          </a:prstGeom>
        </p:spPr>
      </p:pic>
      <p:graphicFrame>
        <p:nvGraphicFramePr>
          <p:cNvPr id="34" name="table 34"/>
          <p:cNvGraphicFramePr>
            <a:graphicFrameLocks noGrp="1"/>
          </p:cNvGraphicFramePr>
          <p:nvPr/>
        </p:nvGraphicFramePr>
        <p:xfrm>
          <a:off x="0" y="0"/>
          <a:ext cx="3458845" cy="6847840"/>
        </p:xfrm>
        <a:graphic>
          <a:graphicData uri="http://schemas.openxmlformats.org/drawingml/2006/table">
            <a:tbl>
              <a:tblPr/>
              <a:tblGrid>
                <a:gridCol w="3458845"/>
              </a:tblGrid>
              <a:tr h="6847840">
                <a:tc>
                  <a:txBody>
                    <a:bodyPr/>
                    <a:lstStyle/>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7179"/>
                        </a:lnSpc>
                        <a:tabLst/>
                      </a:pPr>
                      <a:endParaRPr sz="100" dirty="0">
                        <a:latin typeface="Arial"/>
                        <a:ea typeface="Arial"/>
                        <a:cs typeface="Arial"/>
                      </a:endParaRPr>
                    </a:p>
                    <a:p>
                      <a:pPr marL="787400" algn="l" rtl="0" eaLnBrk="0">
                        <a:lnSpc>
                          <a:spcPct val="93000"/>
                        </a:lnSpc>
                        <a:tabLst/>
                      </a:pPr>
                      <a:r>
                        <a:rPr lang="en-US" sz="3300" b="1" kern="0" spc="0" dirty="0" smtClean="0">
                          <a:solidFill>
                            <a:srgbClr val="FFFFFF">
                              <a:alpha val="100000"/>
                            </a:srgbClr>
                          </a:solidFill>
                          <a:latin typeface="Calibri"/>
                          <a:ea typeface="Calibri"/>
                          <a:cs typeface="Calibri"/>
                        </a:rPr>
                        <a:t>Conclusion:</a:t>
                      </a:r>
                      <a:endParaRPr sz="3300" dirty="0">
                        <a:latin typeface="Calibri"/>
                        <a:ea typeface="Calibri"/>
                        <a:cs typeface="Calibri"/>
                      </a:endParaRPr>
                    </a:p>
                  </a:txBody>
                  <a:tcPr marL="0" marR="0" marT="0" marB="0">
                    <a:lnL w="9525" cap="flat" cmpd="sng" algn="ctr">
                      <a:solidFill>
                        <a:srgbClr val="1D1B58"/>
                      </a:solidFill>
                      <a:prstDash val="solid"/>
                      <a:round/>
                      <a:headEnd type="none" w="med" len="med"/>
                      <a:tailEnd type="none" w="med" len="med"/>
                    </a:lnL>
                    <a:lnR>
                      <a:noFill/>
                    </a:lnR>
                    <a:lnT w="9525" cap="flat" cmpd="sng" algn="ctr">
                      <a:solidFill>
                        <a:srgbClr val="1D1B58"/>
                      </a:solidFill>
                      <a:prstDash val="solid"/>
                      <a:round/>
                      <a:headEnd type="none" w="med" len="med"/>
                      <a:tailEnd type="none" w="med" len="med"/>
                    </a:lnT>
                    <a:lnB w="3175" cap="flat" cmpd="sng" algn="ctr">
                      <a:solidFill>
                        <a:srgbClr val="1D1B58"/>
                      </a:solidFill>
                      <a:prstDash val="solid"/>
                      <a:round/>
                      <a:headEnd type="none" w="med" len="med"/>
                      <a:tailEnd type="none" w="med" len="med"/>
                    </a:lnB>
                  </a:tcPr>
                </a:tc>
              </a:tr>
            </a:tbl>
          </a:graphicData>
        </a:graphic>
      </p:graphicFrame>
      <p:pic>
        <p:nvPicPr>
          <p:cNvPr id="36" name="picture 36"/>
          <p:cNvPicPr>
            <a:picLocks noChangeAspect="1"/>
          </p:cNvPicPr>
          <p:nvPr/>
        </p:nvPicPr>
        <p:blipFill>
          <a:blip r:embed="rId3"/>
          <a:stretch>
            <a:fillRect/>
          </a:stretch>
        </p:blipFill>
        <p:spPr>
          <a:xfrm rot="21600000">
            <a:off x="9496425" y="6115050"/>
            <a:ext cx="2019300" cy="552450"/>
          </a:xfrm>
          <a:prstGeom prst="rect">
            <a:avLst/>
          </a:prstGeom>
        </p:spPr>
      </p:pic>
      <p:sp>
        <p:nvSpPr>
          <p:cNvPr id="6" name="TextBox 5"/>
          <p:cNvSpPr txBox="1"/>
          <p:nvPr/>
        </p:nvSpPr>
        <p:spPr>
          <a:xfrm>
            <a:off x="4216400" y="0"/>
            <a:ext cx="7975600" cy="6524863"/>
          </a:xfrm>
          <a:prstGeom prst="rect">
            <a:avLst/>
          </a:prstGeom>
          <a:noFill/>
        </p:spPr>
        <p:txBody>
          <a:bodyPr wrap="square" rtlCol="0">
            <a:spAutoFit/>
          </a:bodyPr>
          <a:lstStyle/>
          <a:p>
            <a:pPr algn="just"/>
            <a:r>
              <a:rPr lang="en-US" sz="1600" dirty="0" smtClean="0"/>
              <a:t>Our e-commerce customer segmentation and prediction analysis provides powerful insights that help improve business revenue, customer retention, and overall operational efficiency.</a:t>
            </a:r>
          </a:p>
          <a:p>
            <a:pPr algn="just"/>
            <a:endParaRPr lang="en-US" sz="1600" dirty="0" smtClean="0"/>
          </a:p>
          <a:p>
            <a:pPr algn="just"/>
            <a:r>
              <a:rPr lang="en-US" sz="1600" b="1" dirty="0" smtClean="0"/>
              <a:t>High-value customers</a:t>
            </a:r>
            <a:r>
              <a:rPr lang="en-US" sz="1600" dirty="0" smtClean="0"/>
              <a:t> are identified and can be targeted with loyalty programs and exclusive offers.</a:t>
            </a:r>
          </a:p>
          <a:p>
            <a:pPr algn="just"/>
            <a:endParaRPr lang="en-US" sz="1600" dirty="0" smtClean="0"/>
          </a:p>
          <a:p>
            <a:pPr algn="just"/>
            <a:r>
              <a:rPr lang="en-US" sz="1600" b="1" dirty="0" smtClean="0"/>
              <a:t>Medium-value customers</a:t>
            </a:r>
            <a:r>
              <a:rPr lang="en-US" sz="1600" dirty="0" smtClean="0"/>
              <a:t> can be encouraged to increase their spending through personalized recommendations and </a:t>
            </a:r>
            <a:r>
              <a:rPr lang="en-US" sz="1600" dirty="0" err="1" smtClean="0"/>
              <a:t>upselling</a:t>
            </a:r>
            <a:r>
              <a:rPr lang="en-US" sz="1600" dirty="0" smtClean="0"/>
              <a:t> strategies.</a:t>
            </a:r>
          </a:p>
          <a:p>
            <a:pPr algn="just"/>
            <a:endParaRPr lang="en-US" sz="1600" dirty="0" smtClean="0"/>
          </a:p>
          <a:p>
            <a:pPr algn="just"/>
            <a:r>
              <a:rPr lang="en-US" sz="1600" b="1" dirty="0" smtClean="0"/>
              <a:t>Low-value or inactive customers</a:t>
            </a:r>
            <a:r>
              <a:rPr lang="en-US" sz="1600" dirty="0" smtClean="0"/>
              <a:t> can be re-engaged using targeted campaigns to boost their purchase activity.</a:t>
            </a:r>
          </a:p>
          <a:p>
            <a:pPr algn="just"/>
            <a:endParaRPr lang="en-US" sz="1600" dirty="0" smtClean="0"/>
          </a:p>
          <a:p>
            <a:pPr algn="just"/>
            <a:r>
              <a:rPr lang="en-US" sz="1600" b="1" dirty="0" smtClean="0"/>
              <a:t>Behavioral insights</a:t>
            </a:r>
            <a:r>
              <a:rPr lang="en-US" sz="1600" dirty="0" smtClean="0"/>
              <a:t> from </a:t>
            </a:r>
            <a:r>
              <a:rPr lang="en-US" sz="1600" dirty="0" err="1" smtClean="0"/>
              <a:t>Recency</a:t>
            </a:r>
            <a:r>
              <a:rPr lang="en-US" sz="1600" dirty="0" smtClean="0"/>
              <a:t>, Frequency, and Monetary scores enable accurate identification of loyal, active, and high-spending customers.</a:t>
            </a:r>
          </a:p>
          <a:p>
            <a:pPr algn="just"/>
            <a:endParaRPr lang="en-US" sz="1600" dirty="0" smtClean="0"/>
          </a:p>
          <a:p>
            <a:pPr algn="just"/>
            <a:r>
              <a:rPr lang="en-US" sz="1600" b="1" dirty="0" smtClean="0"/>
              <a:t>Predictive modeling</a:t>
            </a:r>
            <a:r>
              <a:rPr lang="en-US" sz="1600" dirty="0" smtClean="0"/>
              <a:t> helps forecast future customer behavior, enabling proactive marketing, retention planning, and better decision-making.</a:t>
            </a:r>
          </a:p>
          <a:p>
            <a:pPr algn="just"/>
            <a:endParaRPr lang="en-US" sz="1600" dirty="0" smtClean="0"/>
          </a:p>
          <a:p>
            <a:pPr algn="just"/>
            <a:r>
              <a:rPr lang="en-US" sz="1600" b="1" dirty="0" smtClean="0"/>
              <a:t>Inventory optimization</a:t>
            </a:r>
            <a:r>
              <a:rPr lang="en-US" sz="1600" dirty="0" smtClean="0"/>
              <a:t> becomes easier by predicting top-selling products and demand trends, helping avoid </a:t>
            </a:r>
            <a:r>
              <a:rPr lang="en-US" sz="1600" dirty="0" err="1" smtClean="0"/>
              <a:t>stockouts</a:t>
            </a:r>
            <a:r>
              <a:rPr lang="en-US" sz="1600" dirty="0" smtClean="0"/>
              <a:t> and overstock situations.</a:t>
            </a:r>
          </a:p>
          <a:p>
            <a:pPr algn="just"/>
            <a:endParaRPr lang="en-US" sz="1600" dirty="0" smtClean="0"/>
          </a:p>
          <a:p>
            <a:pPr algn="just"/>
            <a:r>
              <a:rPr lang="en-US" sz="1600" b="1" dirty="0" smtClean="0"/>
              <a:t>Marketing efficiency</a:t>
            </a:r>
            <a:r>
              <a:rPr lang="en-US" sz="1600" dirty="0" smtClean="0"/>
              <a:t> improves as targeted campaigns ensure better ROI by focusing on the most promising customer groups.</a:t>
            </a:r>
          </a:p>
          <a:p>
            <a:endParaRPr lang="en-US" sz="1600" dirty="0" smtClean="0"/>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box 38"/>
          <p:cNvSpPr/>
          <p:nvPr/>
        </p:nvSpPr>
        <p:spPr>
          <a:xfrm>
            <a:off x="672334" y="6244193"/>
            <a:ext cx="7207250" cy="339725"/>
          </a:xfrm>
          <a:prstGeom prst="rect">
            <a:avLst/>
          </a:prstGeom>
          <a:noFill/>
          <a:ln w="0" cap="flat">
            <a:noFill/>
            <a:prstDash val="solid"/>
            <a:miter lim="0"/>
          </a:ln>
        </p:spPr>
        <p:txBody>
          <a:bodyPr vert="horz" wrap="square" lIns="0" tIns="0" rIns="0" bIns="0"/>
          <a:lstStyle/>
          <a:p>
            <a:pPr algn="l" rtl="0" eaLnBrk="0">
              <a:lnSpc>
                <a:spcPct val="76312"/>
              </a:lnSpc>
              <a:tabLst/>
            </a:pPr>
            <a:endParaRPr sz="100" dirty="0">
              <a:latin typeface="Arial"/>
              <a:ea typeface="Arial"/>
              <a:cs typeface="Arial"/>
            </a:endParaRPr>
          </a:p>
          <a:p>
            <a:pPr marL="17145" indent="-5080" algn="l" rtl="0" eaLnBrk="0">
              <a:lnSpc>
                <a:spcPct val="94000"/>
              </a:lnSpc>
              <a:tabLst/>
            </a:pPr>
            <a:r>
              <a:rPr sz="1100" b="1" kern="0" spc="0" dirty="0">
                <a:solidFill>
                  <a:srgbClr val="AFABAB">
                    <a:alpha val="100000"/>
                  </a:srgbClr>
                </a:solidFill>
                <a:latin typeface="Calibri"/>
                <a:ea typeface="Calibri"/>
                <a:cs typeface="Calibri"/>
              </a:rPr>
              <a:t>CONFIDENTIAL</a:t>
            </a:r>
            <a:r>
              <a:rPr sz="1100" kern="0" spc="0" dirty="0">
                <a:solidFill>
                  <a:srgbClr val="AFABAB">
                    <a:alpha val="100000"/>
                  </a:srgbClr>
                </a:solidFill>
                <a:latin typeface="Calibri"/>
                <a:ea typeface="Calibri"/>
                <a:cs typeface="Calibri"/>
              </a:rPr>
              <a:t>: The</a:t>
            </a:r>
            <a:r>
              <a:rPr sz="1100" kern="0" spc="80" dirty="0">
                <a:solidFill>
                  <a:srgbClr val="AFABAB">
                    <a:alpha val="100000"/>
                  </a:srgbClr>
                </a:solidFill>
                <a:latin typeface="Calibri"/>
                <a:ea typeface="Calibri"/>
                <a:cs typeface="Calibri"/>
              </a:rPr>
              <a:t> </a:t>
            </a:r>
            <a:r>
              <a:rPr sz="1100" kern="0" spc="0" dirty="0">
                <a:solidFill>
                  <a:srgbClr val="AFABAB">
                    <a:alpha val="100000"/>
                  </a:srgbClr>
                </a:solidFill>
                <a:latin typeface="Calibri"/>
                <a:ea typeface="Calibri"/>
                <a:cs typeface="Calibri"/>
              </a:rPr>
              <a:t>information in th</a:t>
            </a:r>
            <a:r>
              <a:rPr sz="1100" kern="0" spc="-10" dirty="0">
                <a:solidFill>
                  <a:srgbClr val="AFABAB">
                    <a:alpha val="100000"/>
                  </a:srgbClr>
                </a:solidFill>
                <a:latin typeface="Calibri"/>
                <a:ea typeface="Calibri"/>
                <a:cs typeface="Calibri"/>
              </a:rPr>
              <a:t>is document belongs to</a:t>
            </a:r>
            <a:r>
              <a:rPr sz="1100" kern="0" spc="8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Boston</a:t>
            </a:r>
            <a:r>
              <a:rPr sz="1100" kern="0" spc="7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Institute of Analytics</a:t>
            </a:r>
            <a:r>
              <a:rPr sz="1100" kern="0" spc="8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LLC. Any</a:t>
            </a:r>
            <a:r>
              <a:rPr sz="1100" kern="0" spc="7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unauthorized sharing of</a:t>
            </a:r>
            <a:r>
              <a:rPr sz="1100" kern="0" spc="1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this</a:t>
            </a:r>
            <a:r>
              <a:rPr sz="1100" kern="0" spc="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material</a:t>
            </a:r>
            <a:r>
              <a:rPr sz="1100" kern="0" spc="14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is</a:t>
            </a:r>
            <a:r>
              <a:rPr sz="1100" kern="0" spc="6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prohibited and subject to</a:t>
            </a:r>
            <a:r>
              <a:rPr sz="1100" kern="0" spc="7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legal</a:t>
            </a:r>
            <a:r>
              <a:rPr sz="1100" kern="0" spc="6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action</a:t>
            </a:r>
            <a:r>
              <a:rPr sz="1100" kern="0" spc="6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under</a:t>
            </a:r>
            <a:r>
              <a:rPr sz="1100" kern="0" spc="12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breach of</a:t>
            </a:r>
            <a:r>
              <a:rPr sz="1100" kern="0" spc="9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IP and confidentiality clauses.</a:t>
            </a:r>
            <a:endParaRPr sz="1100" dirty="0">
              <a:latin typeface="Calibri"/>
              <a:ea typeface="Calibri"/>
              <a:cs typeface="Calibri"/>
            </a:endParaRPr>
          </a:p>
        </p:txBody>
      </p:sp>
      <p:sp>
        <p:nvSpPr>
          <p:cNvPr id="40" name="textbox 40"/>
          <p:cNvSpPr/>
          <p:nvPr/>
        </p:nvSpPr>
        <p:spPr>
          <a:xfrm>
            <a:off x="334044" y="154508"/>
            <a:ext cx="11225496" cy="1323339"/>
          </a:xfrm>
          <a:prstGeom prst="rect">
            <a:avLst/>
          </a:prstGeom>
          <a:noFill/>
          <a:ln w="0" cap="flat">
            <a:noFill/>
            <a:prstDash val="solid"/>
            <a:miter lim="0"/>
          </a:ln>
        </p:spPr>
        <p:txBody>
          <a:bodyPr vert="horz" wrap="square" lIns="0" tIns="0" rIns="0" bIns="0"/>
          <a:lstStyle/>
          <a:p>
            <a:pPr algn="l" rtl="0" eaLnBrk="0">
              <a:lnSpc>
                <a:spcPct val="82141"/>
              </a:lnSpc>
              <a:tabLst/>
            </a:pPr>
            <a:endParaRPr sz="100" dirty="0">
              <a:latin typeface="Arial"/>
              <a:ea typeface="Arial"/>
              <a:cs typeface="Arial"/>
            </a:endParaRPr>
          </a:p>
          <a:p>
            <a:pPr marL="12700" eaLnBrk="0">
              <a:lnSpc>
                <a:spcPct val="78000"/>
              </a:lnSpc>
            </a:pPr>
            <a:r>
              <a:rPr lang="en-US" sz="3600" dirty="0" smtClean="0"/>
              <a:t>Recommendations:</a:t>
            </a:r>
          </a:p>
          <a:p>
            <a:pPr>
              <a:buFont typeface="Arial" pitchFamily="34" charset="0"/>
              <a:buChar char="•"/>
            </a:pPr>
            <a:r>
              <a:rPr lang="en-US" sz="1600" b="1" dirty="0" smtClean="0"/>
              <a:t> </a:t>
            </a:r>
            <a:r>
              <a:rPr lang="en-US" sz="1400" b="1" dirty="0" smtClean="0"/>
              <a:t>Retain High-Value Customers</a:t>
            </a:r>
          </a:p>
          <a:p>
            <a:pPr>
              <a:buFont typeface="Arial" pitchFamily="34" charset="0"/>
              <a:buChar char="•"/>
            </a:pPr>
            <a:r>
              <a:rPr lang="en-US" sz="1400" dirty="0" smtClean="0"/>
              <a:t>Offer loyalty programs, exclusive discounts, and early-access benefits.</a:t>
            </a:r>
          </a:p>
          <a:p>
            <a:pPr>
              <a:buFont typeface="Arial" pitchFamily="34" charset="0"/>
              <a:buChar char="•"/>
            </a:pPr>
            <a:r>
              <a:rPr lang="en-US" sz="1400" dirty="0" smtClean="0"/>
              <a:t>Use the prediction model to identify high-value customers at risk of churn and send targeted retention incentives.</a:t>
            </a:r>
          </a:p>
          <a:p>
            <a:pPr>
              <a:buFont typeface="Arial" pitchFamily="34" charset="0"/>
              <a:buChar char="•"/>
            </a:pPr>
            <a:endParaRPr lang="en-US" sz="1400" dirty="0" smtClean="0"/>
          </a:p>
          <a:p>
            <a:pPr>
              <a:buFont typeface="Arial" pitchFamily="34" charset="0"/>
              <a:buChar char="•"/>
            </a:pPr>
            <a:r>
              <a:rPr lang="en-US" sz="1400" b="1" dirty="0" smtClean="0"/>
              <a:t>Increase Medium-Value Customer Spending</a:t>
            </a:r>
          </a:p>
          <a:p>
            <a:pPr>
              <a:buFont typeface="Arial" pitchFamily="34" charset="0"/>
              <a:buChar char="•"/>
            </a:pPr>
            <a:r>
              <a:rPr lang="en-US" sz="1400" dirty="0" smtClean="0"/>
              <a:t>Use personalized product recommendations and bundle offers.</a:t>
            </a:r>
          </a:p>
          <a:p>
            <a:pPr>
              <a:buFont typeface="Arial" pitchFamily="34" charset="0"/>
              <a:buChar char="•"/>
            </a:pPr>
            <a:r>
              <a:rPr lang="en-US" sz="1400" dirty="0" smtClean="0"/>
              <a:t>Run targeted promotions to increase purchase frequency and encourage repeat buying.</a:t>
            </a:r>
          </a:p>
          <a:p>
            <a:pPr>
              <a:buFont typeface="Arial" pitchFamily="34" charset="0"/>
              <a:buChar char="•"/>
            </a:pPr>
            <a:endParaRPr lang="en-US" sz="1400" dirty="0" smtClean="0"/>
          </a:p>
          <a:p>
            <a:pPr>
              <a:buFont typeface="Arial" pitchFamily="34" charset="0"/>
              <a:buChar char="•"/>
            </a:pPr>
            <a:r>
              <a:rPr lang="en-US" sz="1400" b="1" dirty="0" smtClean="0"/>
              <a:t>Re-Engage Low-Value / Inactive Customers</a:t>
            </a:r>
          </a:p>
          <a:p>
            <a:pPr>
              <a:buFont typeface="Arial" pitchFamily="34" charset="0"/>
              <a:buChar char="•"/>
            </a:pPr>
            <a:r>
              <a:rPr lang="en-US" sz="1400" dirty="0" smtClean="0"/>
              <a:t>Launch email/</a:t>
            </a:r>
            <a:r>
              <a:rPr lang="en-US" sz="1400" dirty="0" err="1" smtClean="0"/>
              <a:t>WhatsApp</a:t>
            </a:r>
            <a:r>
              <a:rPr lang="en-US" sz="1400" dirty="0" smtClean="0"/>
              <a:t> reactivation campaigns with strong promotional offers.</a:t>
            </a:r>
          </a:p>
          <a:p>
            <a:pPr>
              <a:buFont typeface="Arial" pitchFamily="34" charset="0"/>
              <a:buChar char="•"/>
            </a:pPr>
            <a:r>
              <a:rPr lang="en-US" sz="1400" dirty="0" smtClean="0"/>
              <a:t>Use predictive scores to identify customers with a higher probability of returning.</a:t>
            </a:r>
          </a:p>
          <a:p>
            <a:pPr>
              <a:buFont typeface="Arial" pitchFamily="34" charset="0"/>
              <a:buChar char="•"/>
            </a:pPr>
            <a:endParaRPr lang="en-US" sz="1400" dirty="0" smtClean="0"/>
          </a:p>
          <a:p>
            <a:pPr>
              <a:buFont typeface="Arial" pitchFamily="34" charset="0"/>
              <a:buChar char="•"/>
            </a:pPr>
            <a:r>
              <a:rPr lang="en-US" sz="1400" b="1" dirty="0" smtClean="0"/>
              <a:t>Optimize Inventory Based on Predictions</a:t>
            </a:r>
          </a:p>
          <a:p>
            <a:pPr>
              <a:buFont typeface="Arial" pitchFamily="34" charset="0"/>
              <a:buChar char="•"/>
            </a:pPr>
            <a:r>
              <a:rPr lang="en-US" sz="1400" dirty="0" smtClean="0"/>
              <a:t>Maintain sufficient stock for predicted high-demand products.</a:t>
            </a:r>
          </a:p>
          <a:p>
            <a:pPr>
              <a:buFont typeface="Arial" pitchFamily="34" charset="0"/>
              <a:buChar char="•"/>
            </a:pPr>
            <a:r>
              <a:rPr lang="en-US" sz="1400" dirty="0" smtClean="0"/>
              <a:t>Apply promotional bundles, combo offers, or clearance strategies for slow-moving SKUs.</a:t>
            </a:r>
          </a:p>
          <a:p>
            <a:pPr>
              <a:buFont typeface="Arial" pitchFamily="34" charset="0"/>
              <a:buChar char="•"/>
            </a:pPr>
            <a:endParaRPr lang="en-US" sz="1400" dirty="0" smtClean="0"/>
          </a:p>
          <a:p>
            <a:pPr>
              <a:buFont typeface="Arial" pitchFamily="34" charset="0"/>
              <a:buChar char="•"/>
            </a:pPr>
            <a:r>
              <a:rPr lang="en-US" sz="1400" b="1" dirty="0" smtClean="0"/>
              <a:t>Improve Marketing Return Of Investment(ROI)</a:t>
            </a:r>
          </a:p>
          <a:p>
            <a:pPr>
              <a:buFont typeface="Arial" pitchFamily="34" charset="0"/>
              <a:buChar char="•"/>
            </a:pPr>
            <a:r>
              <a:rPr lang="en-US" sz="1400" dirty="0" smtClean="0"/>
              <a:t>Run customized marketing campaigns for each customer segment to reduce wasted ad spend.</a:t>
            </a:r>
          </a:p>
          <a:p>
            <a:pPr>
              <a:buFont typeface="Arial" pitchFamily="34" charset="0"/>
              <a:buChar char="•"/>
            </a:pPr>
            <a:r>
              <a:rPr lang="en-US" sz="1400" dirty="0" smtClean="0"/>
              <a:t>Focus budget on high-value and high-likelihood buyers to maximize return on investment.</a:t>
            </a:r>
          </a:p>
          <a:p>
            <a:pPr>
              <a:buFont typeface="Arial" pitchFamily="34" charset="0"/>
              <a:buChar char="•"/>
            </a:pPr>
            <a:endParaRPr lang="en-US" sz="1400" dirty="0" smtClean="0"/>
          </a:p>
          <a:p>
            <a:pPr>
              <a:buFont typeface="Arial" pitchFamily="34" charset="0"/>
              <a:buChar char="•"/>
            </a:pPr>
            <a:r>
              <a:rPr lang="en-US" sz="1400" b="1" dirty="0" smtClean="0"/>
              <a:t>Enable Personalized Customer Experience</a:t>
            </a:r>
          </a:p>
          <a:p>
            <a:pPr>
              <a:buFont typeface="Arial" pitchFamily="34" charset="0"/>
              <a:buChar char="•"/>
            </a:pPr>
            <a:r>
              <a:rPr lang="en-US" sz="1400" dirty="0" smtClean="0"/>
              <a:t>Use RFM scores and prediction results to display personalized product lists on the website/app.</a:t>
            </a:r>
          </a:p>
          <a:p>
            <a:pPr>
              <a:buFont typeface="Arial" pitchFamily="34" charset="0"/>
              <a:buChar char="•"/>
            </a:pPr>
            <a:r>
              <a:rPr lang="en-US" sz="1400" dirty="0" smtClean="0"/>
              <a:t>Send targeted notifications and emails to significantly improve conversions.</a:t>
            </a:r>
          </a:p>
          <a:p>
            <a:endParaRPr lang="en-US" sz="1400" dirty="0" smtClean="0"/>
          </a:p>
          <a:p>
            <a:endParaRPr lang="en-US" sz="1600" dirty="0" smtClean="0"/>
          </a:p>
          <a:p>
            <a:endParaRPr lang="en-US" sz="1600" dirty="0" smtClean="0"/>
          </a:p>
          <a:p>
            <a:pPr marL="12700" eaLnBrk="0">
              <a:lnSpc>
                <a:spcPct val="78000"/>
              </a:lnSpc>
            </a:pPr>
            <a:endParaRPr sz="3300" smtClean="0">
              <a:latin typeface="Calibri"/>
              <a:ea typeface="Calibri"/>
              <a:cs typeface="Calibri"/>
            </a:endParaRPr>
          </a:p>
          <a:p>
            <a:pPr algn="l" rtl="0" eaLnBrk="0">
              <a:lnSpc>
                <a:spcPct val="106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05000"/>
              </a:lnSpc>
              <a:tabLst/>
            </a:pPr>
            <a:endParaRPr sz="500" dirty="0">
              <a:latin typeface="Arial"/>
              <a:ea typeface="Arial"/>
              <a:cs typeface="Arial"/>
            </a:endParaRPr>
          </a:p>
        </p:txBody>
      </p:sp>
      <p:pic>
        <p:nvPicPr>
          <p:cNvPr id="42" name="picture 42"/>
          <p:cNvPicPr>
            <a:picLocks noChangeAspect="1"/>
          </p:cNvPicPr>
          <p:nvPr/>
        </p:nvPicPr>
        <p:blipFill>
          <a:blip r:embed="rId2"/>
          <a:stretch>
            <a:fillRect/>
          </a:stretch>
        </p:blipFill>
        <p:spPr>
          <a:xfrm rot="21600000">
            <a:off x="9496425" y="6115050"/>
            <a:ext cx="2019300" cy="5524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4010" y="171016"/>
            <a:ext cx="9757169" cy="5632311"/>
          </a:xfrm>
          <a:prstGeom prst="rect">
            <a:avLst/>
          </a:prstGeom>
          <a:noFill/>
        </p:spPr>
        <p:txBody>
          <a:bodyPr wrap="square" rtlCol="0">
            <a:spAutoFit/>
          </a:bodyPr>
          <a:lstStyle/>
          <a:p>
            <a:r>
              <a:rPr lang="en-US" b="1" dirty="0" smtClean="0"/>
              <a:t>Future Scope:</a:t>
            </a:r>
          </a:p>
          <a:p>
            <a:r>
              <a:rPr lang="en-US" b="1" dirty="0" smtClean="0"/>
              <a:t>1. Explore More Advanced Clustering Techniques</a:t>
            </a:r>
          </a:p>
          <a:p>
            <a:r>
              <a:rPr lang="en-US" dirty="0" smtClean="0"/>
              <a:t>More advanced clustering methods can be explored to achieve deeper and more meaningful customer segmentation.</a:t>
            </a:r>
          </a:p>
          <a:p>
            <a:r>
              <a:rPr lang="en-US" b="1" dirty="0" smtClean="0"/>
              <a:t>2. Improve Prediction Accuracy With Advanced ML Approaches</a:t>
            </a:r>
          </a:p>
          <a:p>
            <a:r>
              <a:rPr lang="en-US" dirty="0" smtClean="0"/>
              <a:t>Future work can include testing more advanced machine learning techniques to further improve prediction accuracy.</a:t>
            </a:r>
          </a:p>
          <a:p>
            <a:r>
              <a:rPr lang="en-US" b="1" dirty="0" smtClean="0"/>
              <a:t>3. Add Additional Customer </a:t>
            </a:r>
            <a:r>
              <a:rPr lang="en-US" b="1" dirty="0" err="1" smtClean="0"/>
              <a:t>Behaviour</a:t>
            </a:r>
            <a:r>
              <a:rPr lang="en-US" b="1" dirty="0" smtClean="0"/>
              <a:t> Features</a:t>
            </a:r>
          </a:p>
          <a:p>
            <a:r>
              <a:rPr lang="en-US" dirty="0" smtClean="0"/>
              <a:t>Incorporating browsing history, click patterns, and customer lifetime value can make the prediction model more comprehensive.</a:t>
            </a:r>
          </a:p>
          <a:p>
            <a:r>
              <a:rPr lang="en-US" b="1" dirty="0" smtClean="0"/>
              <a:t>4. Implement Real-Time Model Monitoring</a:t>
            </a:r>
          </a:p>
          <a:p>
            <a:r>
              <a:rPr lang="en-US" dirty="0" smtClean="0"/>
              <a:t>In the future, continuous model evaluation can be added to analyze how the model performs with new data and to understand changes in customer behavior over time.</a:t>
            </a:r>
          </a:p>
          <a:p>
            <a:r>
              <a:rPr lang="en-US" b="1" dirty="0" smtClean="0"/>
              <a:t>5. Enhance the Recommendation Experience</a:t>
            </a:r>
          </a:p>
          <a:p>
            <a:r>
              <a:rPr lang="en-US" dirty="0" smtClean="0"/>
              <a:t>A more advanced recommendation engine can be developed using segmentation + prediction results to provide personalized product suggestions.</a:t>
            </a:r>
          </a:p>
          <a:p>
            <a:r>
              <a:rPr lang="en-US" b="1" dirty="0" smtClean="0"/>
              <a:t>6. Automate Marketing Workflows</a:t>
            </a:r>
          </a:p>
          <a:p>
            <a:r>
              <a:rPr lang="en-US" dirty="0" smtClean="0"/>
              <a:t>Marketing actions such as sending offers, emails, and notifications can be automated based on customer segments and predicted behavior.</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4"/>
          <p:cNvSpPr/>
          <p:nvPr/>
        </p:nvSpPr>
        <p:spPr>
          <a:xfrm>
            <a:off x="696505" y="3785409"/>
            <a:ext cx="3705225" cy="884555"/>
          </a:xfrm>
          <a:prstGeom prst="rect">
            <a:avLst/>
          </a:prstGeom>
          <a:noFill/>
          <a:ln w="0" cap="flat">
            <a:noFill/>
            <a:prstDash val="solid"/>
            <a:miter lim="0"/>
          </a:ln>
        </p:spPr>
        <p:txBody>
          <a:bodyPr vert="horz" wrap="square" lIns="0" tIns="0" rIns="0" bIns="0"/>
          <a:lstStyle/>
          <a:p>
            <a:pPr algn="l" rtl="0" eaLnBrk="0">
              <a:lnSpc>
                <a:spcPct val="78723"/>
              </a:lnSpc>
              <a:tabLst/>
            </a:pPr>
            <a:endParaRPr sz="100" dirty="0">
              <a:latin typeface="Arial"/>
              <a:ea typeface="Arial"/>
              <a:cs typeface="Arial"/>
            </a:endParaRPr>
          </a:p>
          <a:p>
            <a:pPr marL="12700" algn="l" rtl="0" eaLnBrk="0">
              <a:lnSpc>
                <a:spcPct val="94000"/>
              </a:lnSpc>
              <a:tabLst/>
            </a:pPr>
            <a:r>
              <a:rPr sz="6000" b="1" kern="0" spc="100" dirty="0">
                <a:solidFill>
                  <a:srgbClr val="161A3E">
                    <a:alpha val="100000"/>
                  </a:srgbClr>
                </a:solidFill>
                <a:latin typeface="Calibri"/>
                <a:ea typeface="Calibri"/>
                <a:cs typeface="Calibri"/>
              </a:rPr>
              <a:t>Questions?</a:t>
            </a:r>
            <a:endParaRPr sz="6000" dirty="0">
              <a:latin typeface="Calibri"/>
              <a:ea typeface="Calibri"/>
              <a:cs typeface="Calibri"/>
            </a:endParaRPr>
          </a:p>
        </p:txBody>
      </p:sp>
      <p:sp>
        <p:nvSpPr>
          <p:cNvPr id="46" name="textbox 46"/>
          <p:cNvSpPr/>
          <p:nvPr/>
        </p:nvSpPr>
        <p:spPr>
          <a:xfrm>
            <a:off x="672334" y="6244193"/>
            <a:ext cx="7207250" cy="339725"/>
          </a:xfrm>
          <a:prstGeom prst="rect">
            <a:avLst/>
          </a:prstGeom>
          <a:noFill/>
          <a:ln w="0" cap="flat">
            <a:noFill/>
            <a:prstDash val="solid"/>
            <a:miter lim="0"/>
          </a:ln>
        </p:spPr>
        <p:txBody>
          <a:bodyPr vert="horz" wrap="square" lIns="0" tIns="0" rIns="0" bIns="0"/>
          <a:lstStyle/>
          <a:p>
            <a:pPr algn="l" rtl="0" eaLnBrk="0">
              <a:lnSpc>
                <a:spcPct val="76312"/>
              </a:lnSpc>
              <a:tabLst/>
            </a:pPr>
            <a:endParaRPr sz="100" dirty="0">
              <a:latin typeface="Arial"/>
              <a:ea typeface="Arial"/>
              <a:cs typeface="Arial"/>
            </a:endParaRPr>
          </a:p>
          <a:p>
            <a:pPr marL="17145" indent="-5080" algn="l" rtl="0" eaLnBrk="0">
              <a:lnSpc>
                <a:spcPct val="94000"/>
              </a:lnSpc>
              <a:tabLst/>
            </a:pPr>
            <a:r>
              <a:rPr sz="1100" b="1" kern="0" spc="0" dirty="0">
                <a:solidFill>
                  <a:srgbClr val="AFABAB">
                    <a:alpha val="100000"/>
                  </a:srgbClr>
                </a:solidFill>
                <a:latin typeface="Calibri"/>
                <a:ea typeface="Calibri"/>
                <a:cs typeface="Calibri"/>
              </a:rPr>
              <a:t>CONFIDENTIAL</a:t>
            </a:r>
            <a:r>
              <a:rPr sz="1100" kern="0" spc="0" dirty="0">
                <a:solidFill>
                  <a:srgbClr val="AFABAB">
                    <a:alpha val="100000"/>
                  </a:srgbClr>
                </a:solidFill>
                <a:latin typeface="Calibri"/>
                <a:ea typeface="Calibri"/>
                <a:cs typeface="Calibri"/>
              </a:rPr>
              <a:t>: The</a:t>
            </a:r>
            <a:r>
              <a:rPr sz="1100" kern="0" spc="80" dirty="0">
                <a:solidFill>
                  <a:srgbClr val="AFABAB">
                    <a:alpha val="100000"/>
                  </a:srgbClr>
                </a:solidFill>
                <a:latin typeface="Calibri"/>
                <a:ea typeface="Calibri"/>
                <a:cs typeface="Calibri"/>
              </a:rPr>
              <a:t> </a:t>
            </a:r>
            <a:r>
              <a:rPr sz="1100" kern="0" spc="0" dirty="0">
                <a:solidFill>
                  <a:srgbClr val="AFABAB">
                    <a:alpha val="100000"/>
                  </a:srgbClr>
                </a:solidFill>
                <a:latin typeface="Calibri"/>
                <a:ea typeface="Calibri"/>
                <a:cs typeface="Calibri"/>
              </a:rPr>
              <a:t>information in th</a:t>
            </a:r>
            <a:r>
              <a:rPr sz="1100" kern="0" spc="-10" dirty="0">
                <a:solidFill>
                  <a:srgbClr val="AFABAB">
                    <a:alpha val="100000"/>
                  </a:srgbClr>
                </a:solidFill>
                <a:latin typeface="Calibri"/>
                <a:ea typeface="Calibri"/>
                <a:cs typeface="Calibri"/>
              </a:rPr>
              <a:t>is document belongs to</a:t>
            </a:r>
            <a:r>
              <a:rPr sz="1100" kern="0" spc="8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Boston</a:t>
            </a:r>
            <a:r>
              <a:rPr sz="1100" kern="0" spc="7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Institute of Analytics</a:t>
            </a:r>
            <a:r>
              <a:rPr sz="1100" kern="0" spc="8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LLC. Any</a:t>
            </a:r>
            <a:r>
              <a:rPr sz="1100" kern="0" spc="7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unauthorized sharing of</a:t>
            </a:r>
            <a:r>
              <a:rPr sz="1100" kern="0" spc="1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this</a:t>
            </a:r>
            <a:r>
              <a:rPr sz="1100" kern="0" spc="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material</a:t>
            </a:r>
            <a:r>
              <a:rPr sz="1100" kern="0" spc="14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is</a:t>
            </a:r>
            <a:r>
              <a:rPr sz="1100" kern="0" spc="6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prohibited and subject to</a:t>
            </a:r>
            <a:r>
              <a:rPr sz="1100" kern="0" spc="7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legal</a:t>
            </a:r>
            <a:r>
              <a:rPr sz="1100" kern="0" spc="6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action</a:t>
            </a:r>
            <a:r>
              <a:rPr sz="1100" kern="0" spc="6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under</a:t>
            </a:r>
            <a:r>
              <a:rPr sz="1100" kern="0" spc="12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breach of</a:t>
            </a:r>
            <a:r>
              <a:rPr sz="1100" kern="0" spc="9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IP and confidentiality clauses.</a:t>
            </a:r>
            <a:endParaRPr sz="1100" dirty="0">
              <a:latin typeface="Calibri"/>
              <a:ea typeface="Calibri"/>
              <a:cs typeface="Calibri"/>
            </a:endParaRPr>
          </a:p>
        </p:txBody>
      </p:sp>
      <p:pic>
        <p:nvPicPr>
          <p:cNvPr id="48" name="picture 48"/>
          <p:cNvPicPr>
            <a:picLocks noChangeAspect="1"/>
          </p:cNvPicPr>
          <p:nvPr/>
        </p:nvPicPr>
        <p:blipFill>
          <a:blip r:embed="rId2"/>
          <a:stretch>
            <a:fillRect/>
          </a:stretch>
        </p:blipFill>
        <p:spPr>
          <a:xfrm rot="21600000">
            <a:off x="9496425" y="6115050"/>
            <a:ext cx="2019300" cy="55245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50"/>
          <p:cNvPicPr>
            <a:picLocks noChangeAspect="1"/>
          </p:cNvPicPr>
          <p:nvPr/>
        </p:nvPicPr>
        <p:blipFill>
          <a:blip r:embed="rId2"/>
          <a:stretch>
            <a:fillRect/>
          </a:stretch>
        </p:blipFill>
        <p:spPr>
          <a:xfrm rot="21600000">
            <a:off x="9496425" y="6115050"/>
            <a:ext cx="2019300" cy="552450"/>
          </a:xfrm>
          <a:prstGeom prst="rect">
            <a:avLst/>
          </a:prstGeom>
        </p:spPr>
      </p:pic>
      <p:sp>
        <p:nvSpPr>
          <p:cNvPr id="52" name="textbox 52"/>
          <p:cNvSpPr/>
          <p:nvPr/>
        </p:nvSpPr>
        <p:spPr>
          <a:xfrm>
            <a:off x="1849757" y="6244193"/>
            <a:ext cx="6029959" cy="339725"/>
          </a:xfrm>
          <a:prstGeom prst="rect">
            <a:avLst/>
          </a:prstGeom>
          <a:noFill/>
          <a:ln w="0" cap="flat">
            <a:noFill/>
            <a:prstDash val="solid"/>
            <a:miter lim="0"/>
          </a:ln>
        </p:spPr>
        <p:txBody>
          <a:bodyPr vert="horz" wrap="square" lIns="0" tIns="0" rIns="0" bIns="0"/>
          <a:lstStyle/>
          <a:p>
            <a:pPr algn="l" rtl="0" eaLnBrk="0">
              <a:lnSpc>
                <a:spcPct val="78627"/>
              </a:lnSpc>
              <a:tabLst/>
            </a:pPr>
            <a:endParaRPr sz="100" dirty="0">
              <a:latin typeface="Arial"/>
              <a:ea typeface="Arial"/>
              <a:cs typeface="Arial"/>
            </a:endParaRPr>
          </a:p>
          <a:p>
            <a:pPr marL="12700" algn="l" rtl="0" eaLnBrk="0">
              <a:lnSpc>
                <a:spcPct val="91000"/>
              </a:lnSpc>
              <a:tabLst/>
            </a:pPr>
            <a:r>
              <a:rPr sz="1100" kern="0" spc="0" dirty="0">
                <a:solidFill>
                  <a:srgbClr val="AFABAB">
                    <a:alpha val="100000"/>
                  </a:srgbClr>
                </a:solidFill>
                <a:latin typeface="Calibri"/>
                <a:ea typeface="Calibri"/>
                <a:cs typeface="Calibri"/>
              </a:rPr>
              <a:t>information             document belongs      Bost</a:t>
            </a:r>
            <a:r>
              <a:rPr sz="1100" kern="0" spc="-10" dirty="0">
                <a:solidFill>
                  <a:srgbClr val="AFABAB">
                    <a:alpha val="100000"/>
                  </a:srgbClr>
                </a:solidFill>
                <a:latin typeface="Calibri"/>
                <a:ea typeface="Calibri"/>
                <a:cs typeface="Calibri"/>
              </a:rPr>
              <a:t>on</a:t>
            </a:r>
            <a:r>
              <a:rPr sz="1100" kern="0" spc="7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Institute of                          Any</a:t>
            </a:r>
            <a:r>
              <a:rPr sz="1100" kern="0" spc="7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unauthorized</a:t>
            </a:r>
            <a:r>
              <a:rPr sz="1100" kern="0" spc="2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sharing</a:t>
            </a:r>
            <a:r>
              <a:rPr sz="1100" kern="0" spc="2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of</a:t>
            </a:r>
            <a:r>
              <a:rPr sz="1100" kern="0" spc="2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this</a:t>
            </a:r>
            <a:endParaRPr sz="1100" dirty="0">
              <a:latin typeface="Calibri"/>
              <a:ea typeface="Calibri"/>
              <a:cs typeface="Calibri"/>
            </a:endParaRPr>
          </a:p>
          <a:p>
            <a:pPr marL="329565" algn="l" rtl="0" eaLnBrk="0">
              <a:lnSpc>
                <a:spcPct val="91000"/>
              </a:lnSpc>
              <a:spcBef>
                <a:spcPts val="76"/>
              </a:spcBef>
              <a:tabLst/>
            </a:pPr>
            <a:r>
              <a:rPr sz="1100" kern="0" spc="-10" dirty="0">
                <a:solidFill>
                  <a:srgbClr val="AFABAB">
                    <a:alpha val="100000"/>
                  </a:srgbClr>
                </a:solidFill>
                <a:latin typeface="Calibri"/>
                <a:ea typeface="Calibri"/>
                <a:cs typeface="Calibri"/>
              </a:rPr>
              <a:t>subject                            under               of</a:t>
            </a:r>
            <a:r>
              <a:rPr sz="1100" kern="0" spc="120" dirty="0">
                <a:solidFill>
                  <a:srgbClr val="AFABAB">
                    <a:alpha val="100000"/>
                  </a:srgbClr>
                </a:solidFill>
                <a:latin typeface="Calibri"/>
                <a:ea typeface="Calibri"/>
                <a:cs typeface="Calibri"/>
              </a:rPr>
              <a:t> </a:t>
            </a:r>
            <a:r>
              <a:rPr sz="1100" kern="0" spc="-10" dirty="0">
                <a:solidFill>
                  <a:srgbClr val="AFABAB">
                    <a:alpha val="100000"/>
                  </a:srgbClr>
                </a:solidFill>
                <a:latin typeface="Calibri"/>
                <a:ea typeface="Calibri"/>
                <a:cs typeface="Calibri"/>
              </a:rPr>
              <a:t>IP and confidentiality               .</a:t>
            </a:r>
            <a:endParaRPr sz="1100" dirty="0">
              <a:latin typeface="Calibri"/>
              <a:ea typeface="Calibri"/>
              <a:cs typeface="Calibri"/>
            </a:endParaRPr>
          </a:p>
        </p:txBody>
      </p:sp>
      <p:pic>
        <p:nvPicPr>
          <p:cNvPr id="54" name="picture 54"/>
          <p:cNvPicPr>
            <a:picLocks noChangeAspect="1"/>
          </p:cNvPicPr>
          <p:nvPr/>
        </p:nvPicPr>
        <p:blipFill>
          <a:blip r:embed="rId3"/>
          <a:stretch>
            <a:fillRect/>
          </a:stretch>
        </p:blipFill>
        <p:spPr>
          <a:xfrm rot="21600000">
            <a:off x="0" y="0"/>
            <a:ext cx="12192000" cy="6857997"/>
          </a:xfrm>
          <a:prstGeom prst="rect">
            <a:avLst/>
          </a:prstGeom>
        </p:spPr>
      </p:pic>
      <p:sp>
        <p:nvSpPr>
          <p:cNvPr id="56" name="textbox 56"/>
          <p:cNvSpPr/>
          <p:nvPr/>
        </p:nvSpPr>
        <p:spPr>
          <a:xfrm>
            <a:off x="4162379" y="2673972"/>
            <a:ext cx="3876675" cy="796290"/>
          </a:xfrm>
          <a:prstGeom prst="rect">
            <a:avLst/>
          </a:prstGeom>
          <a:noFill/>
          <a:ln w="0" cap="flat">
            <a:noFill/>
            <a:prstDash val="solid"/>
            <a:miter lim="0"/>
          </a:ln>
        </p:spPr>
        <p:txBody>
          <a:bodyPr vert="horz" wrap="square" lIns="0" tIns="0" rIns="0" bIns="0"/>
          <a:lstStyle/>
          <a:p>
            <a:pPr algn="l" rtl="0" eaLnBrk="0">
              <a:lnSpc>
                <a:spcPct val="59240"/>
              </a:lnSpc>
              <a:tabLst/>
            </a:pPr>
            <a:endParaRPr sz="100" dirty="0">
              <a:latin typeface="Arial"/>
              <a:ea typeface="Arial"/>
              <a:cs typeface="Arial"/>
            </a:endParaRPr>
          </a:p>
          <a:p>
            <a:pPr marL="12700" algn="l" rtl="0" eaLnBrk="0">
              <a:lnSpc>
                <a:spcPct val="77000"/>
              </a:lnSpc>
              <a:tabLst/>
            </a:pPr>
            <a:r>
              <a:rPr sz="6600" b="1" kern="0" spc="-70" dirty="0">
                <a:solidFill>
                  <a:srgbClr val="FFFFFF">
                    <a:alpha val="100000"/>
                  </a:srgbClr>
                </a:solidFill>
                <a:latin typeface="Calibri"/>
                <a:ea typeface="Calibri"/>
                <a:cs typeface="Calibri"/>
              </a:rPr>
              <a:t>Thank You!</a:t>
            </a:r>
            <a:endParaRPr sz="6600" dirty="0">
              <a:latin typeface="Calibri"/>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946</TotalTime>
  <Words>2259</Words>
  <PresentationFormat>Custom</PresentationFormat>
  <Paragraphs>385</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LOQ</dc:creator>
  <cp:lastModifiedBy>LOQ</cp:lastModifiedBy>
  <cp:revision>83</cp:revision>
  <dcterms:created xsi:type="dcterms:W3CDTF">2025-11-23T00:34:58Z</dcterms:created>
  <dcterms:modified xsi:type="dcterms:W3CDTF">2025-12-25T12:37:27Z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wqlLaW5nc29mdCBQREYgdG8gV1BTIDEwMA</vt:lpwstr>
  </property>
  <property fmtid="{D5CDD505-2E9C-101B-9397-08002B2CF9AE}" pid="3" name="Created">
    <vt:filetime>2025-12-02T00:31:32Z</vt:filetime>
  </property>
</Properties>
</file>