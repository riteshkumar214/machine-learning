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256" r:id="rId3"/>
    <p:sldId id="288" r:id="rId5"/>
    <p:sldId id="276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6" r:id="rId23"/>
    <p:sldId id="307" r:id="rId24"/>
    <p:sldId id="308" r:id="rId25"/>
    <p:sldId id="309" r:id="rId26"/>
    <p:sldId id="305" r:id="rId27"/>
    <p:sldId id="310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52" autoAdjust="0"/>
  </p:normalViewPr>
  <p:slideViewPr>
    <p:cSldViewPr snapToGrid="0" showGuides="1">
      <p:cViewPr varScale="1">
        <p:scale>
          <a:sx n="87" d="100"/>
          <a:sy n="87" d="100"/>
        </p:scale>
        <p:origin x="-528" y="-86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customXml" Target="../customXml/item3.xml"/><Relationship Id="rId35" Type="http://schemas.openxmlformats.org/officeDocument/2006/relationships/customXml" Target="../customXml/item2.xml"/><Relationship Id="rId34" Type="http://schemas.openxmlformats.org/officeDocument/2006/relationships/customXml" Target="../customXml/item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8017" y="2581208"/>
            <a:ext cx="9144000" cy="747897"/>
          </a:xfrm>
        </p:spPr>
        <p:txBody>
          <a:bodyPr lIns="0" tIns="0" rIns="0" bIns="0" anchor="t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Predicting Used Car Prices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4" name="Diamond 3"/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/>
          <p:cNvSpPr/>
          <p:nvPr/>
        </p:nvSpPr>
        <p:spPr>
          <a:xfrm>
            <a:off x="4792319" y="-608242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/>
          <p:cNvGrpSpPr/>
          <p:nvPr/>
        </p:nvGrpSpPr>
        <p:grpSpPr>
          <a:xfrm>
            <a:off x="5851021" y="3724968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/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566"/>
            <p:cNvSpPr/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82" y="346464"/>
            <a:ext cx="10515600" cy="1325563"/>
          </a:xfrm>
        </p:spPr>
        <p:txBody>
          <a:bodyPr/>
          <a:lstStyle/>
          <a:p>
            <a:r>
              <a:rPr lang="en-IN" dirty="0"/>
              <a:t> Overview:</a:t>
            </a:r>
            <a:br>
              <a:rPr lang="en-IN" dirty="0"/>
            </a:b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01082" y="1464926"/>
            <a:ext cx="11430654" cy="1844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sz="1800" dirty="0"/>
              <a:t>This solution develops a machine learning model to predict used car prices using vehicle characteristics and market data from major metro cities.</a:t>
            </a:r>
            <a:endParaRPr lang="en-US" sz="1800" dirty="0"/>
          </a:p>
          <a:p>
            <a:r>
              <a:rPr lang="en-US" sz="1800" dirty="0"/>
              <a:t>The objective is to improve pricing accuracy, optimize inventory decisions, and support buyers and sellers with reliable, data-driven insights.</a:t>
            </a:r>
            <a:endParaRPr lang="en-US" sz="1800" dirty="0"/>
          </a:p>
          <a:p>
            <a:r>
              <a:rPr lang="en-US" sz="1800" dirty="0"/>
              <a:t>The model also helps identify the most important factors that influence car prices, enabling smarter business strategies in the used car marketplace.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dirty="0"/>
              <a:t>Analysis Workflow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Used Car Price Prediction</a:t>
            </a:r>
            <a:endParaRPr lang="en-US" b="1" dirty="0">
              <a:latin typeface="+mj-lt"/>
            </a:endParaRPr>
          </a:p>
        </p:txBody>
      </p:sp>
      <p:sp>
        <p:nvSpPr>
          <p:cNvPr id="16" name="Rectangle: Rounded Corners 15"/>
          <p:cNvSpPr/>
          <p:nvPr/>
        </p:nvSpPr>
        <p:spPr>
          <a:xfrm>
            <a:off x="6943725" y="1613877"/>
            <a:ext cx="44100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</a:t>
            </a:r>
            <a:r>
              <a:rPr lang="en-IN" sz="1600" dirty="0" err="1"/>
              <a:t>ata</a:t>
            </a:r>
            <a:r>
              <a:rPr lang="en-IN" sz="1600" dirty="0"/>
              <a:t> Preprocessing &amp;Feature </a:t>
            </a:r>
            <a:r>
              <a:rPr lang="en-IN" sz="1600" b="1" dirty="0"/>
              <a:t>Engineering </a:t>
            </a:r>
            <a:endParaRPr lang="en-US" sz="1600" dirty="0"/>
          </a:p>
        </p:txBody>
      </p:sp>
      <p:sp>
        <p:nvSpPr>
          <p:cNvPr id="15" name="Oval 14"/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/>
          <p:cNvSpPr/>
          <p:nvPr/>
        </p:nvSpPr>
        <p:spPr>
          <a:xfrm>
            <a:off x="7581900" y="3307410"/>
            <a:ext cx="4734508" cy="86771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/>
              <a:t>                    Model Preparation and Feature Importance </a:t>
            </a:r>
            <a:endParaRPr lang="en-IN" sz="1400" b="1" dirty="0"/>
          </a:p>
        </p:txBody>
      </p:sp>
      <p:sp>
        <p:nvSpPr>
          <p:cNvPr id="20" name="Oval 19"/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/>
          <p:cNvSpPr/>
          <p:nvPr/>
        </p:nvSpPr>
        <p:spPr>
          <a:xfrm>
            <a:off x="7129621" y="5205881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            Model evaluation &amp; validation</a:t>
            </a:r>
            <a:endParaRPr lang="en-US" sz="1600" dirty="0"/>
          </a:p>
        </p:txBody>
      </p:sp>
      <p:sp>
        <p:nvSpPr>
          <p:cNvPr id="22" name="Oval 21"/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/>
          <p:cNvSpPr/>
          <p:nvPr/>
        </p:nvSpPr>
        <p:spPr>
          <a:xfrm>
            <a:off x="998220" y="1613877"/>
            <a:ext cx="425005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Data understanding &amp; EDA</a:t>
            </a:r>
            <a:endParaRPr lang="en-US" sz="1600" dirty="0"/>
          </a:p>
        </p:txBody>
      </p:sp>
      <p:sp>
        <p:nvSpPr>
          <p:cNvPr id="26" name="Oval 25"/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/>
          <p:cNvSpPr/>
          <p:nvPr/>
        </p:nvSpPr>
        <p:spPr>
          <a:xfrm>
            <a:off x="248920" y="3334727"/>
            <a:ext cx="425005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</a:t>
            </a:r>
            <a:r>
              <a:rPr lang="en-IN" sz="1600" dirty="0" err="1"/>
              <a:t>onclusion</a:t>
            </a:r>
            <a:endParaRPr lang="en-US" sz="1600" dirty="0"/>
          </a:p>
        </p:txBody>
      </p:sp>
      <p:sp>
        <p:nvSpPr>
          <p:cNvPr id="28" name="Oval 27"/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/>
          <p:cNvSpPr/>
          <p:nvPr/>
        </p:nvSpPr>
        <p:spPr>
          <a:xfrm>
            <a:off x="944880" y="5154978"/>
            <a:ext cx="430339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Prediction Error Analysis</a:t>
            </a:r>
            <a:endParaRPr lang="en-US" sz="1600" dirty="0"/>
          </a:p>
        </p:txBody>
      </p:sp>
      <p:sp>
        <p:nvSpPr>
          <p:cNvPr id="30" name="Oval 29"/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 descr="Icons of bar chart and line graph."/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/>
            <p:cNvSpPr/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33" name="Freeform 373"/>
            <p:cNvSpPr/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34" name="Freeform 1676" descr="Icon of check box. "/>
          <p:cNvSpPr>
            <a:spLocks noEditPoints="1"/>
          </p:cNvSpPr>
          <p:nvPr/>
        </p:nvSpPr>
        <p:spPr bwMode="auto">
          <a:xfrm>
            <a:off x="7129621" y="181149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35" name="Freeform 4665" descr="Icon of graph. "/>
          <p:cNvSpPr/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grpSp>
        <p:nvGrpSpPr>
          <p:cNvPr id="36" name="Group 35" descr="Icon of human being and gear. "/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/>
            <p:cNvSpPr/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38" name="Freeform 3674"/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grpSp>
        <p:nvGrpSpPr>
          <p:cNvPr id="39" name="Group 38" descr="Icon of gears. "/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/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41" name="Freeform 4360"/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/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1600" y="355600"/>
            <a:ext cx="12090399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Data Overview :</a:t>
            </a:r>
            <a:endParaRPr lang="en-US" sz="3200" b="1" dirty="0"/>
          </a:p>
          <a:p>
            <a:endParaRPr lang="en-US" dirty="0"/>
          </a:p>
          <a:p>
            <a:r>
              <a:rPr lang="en-US" dirty="0"/>
              <a:t>The dataset has </a:t>
            </a:r>
            <a:r>
              <a:rPr lang="en-US" b="1" dirty="0"/>
              <a:t>1064 records</a:t>
            </a:r>
            <a:r>
              <a:rPr lang="en-US" dirty="0"/>
              <a:t> and 19 attributes. Key fields include: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Numerical features:</a:t>
            </a:r>
            <a:r>
              <a:rPr lang="en-US" dirty="0"/>
              <a:t> </a:t>
            </a:r>
            <a:r>
              <a:rPr lang="en-US" i="1" dirty="0"/>
              <a:t>Kilometer</a:t>
            </a:r>
            <a:r>
              <a:rPr lang="en-US" dirty="0"/>
              <a:t> (driven), </a:t>
            </a:r>
            <a:r>
              <a:rPr lang="en-US" i="1" dirty="0" err="1"/>
              <a:t>ModelYear</a:t>
            </a:r>
            <a:r>
              <a:rPr lang="en-US" dirty="0"/>
              <a:t>, </a:t>
            </a:r>
            <a:r>
              <a:rPr lang="en-US" i="1" dirty="0"/>
              <a:t>Warranty</a:t>
            </a:r>
            <a:r>
              <a:rPr lang="en-US" dirty="0"/>
              <a:t> (dealer warranty 0/1), </a:t>
            </a:r>
            <a:r>
              <a:rPr lang="en-US" i="1" dirty="0" err="1"/>
              <a:t>QualityScore</a:t>
            </a:r>
            <a:r>
              <a:rPr lang="en-US" dirty="0"/>
              <a:t>, and </a:t>
            </a:r>
            <a:r>
              <a:rPr lang="en-US" i="1" dirty="0"/>
              <a:t>Price</a:t>
            </a:r>
            <a:r>
              <a:rPr lang="en-US" dirty="0"/>
              <a:t> (target).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Categorical features:</a:t>
            </a:r>
            <a:r>
              <a:rPr lang="en-US" dirty="0"/>
              <a:t> </a:t>
            </a:r>
            <a:r>
              <a:rPr lang="en-US" i="1" dirty="0"/>
              <a:t>Company</a:t>
            </a:r>
            <a:r>
              <a:rPr lang="en-US" dirty="0"/>
              <a:t>, </a:t>
            </a:r>
            <a:r>
              <a:rPr lang="en-US" i="1" dirty="0"/>
              <a:t>Model</a:t>
            </a:r>
            <a:r>
              <a:rPr lang="en-US" dirty="0"/>
              <a:t>, </a:t>
            </a:r>
            <a:r>
              <a:rPr lang="en-US" i="1" dirty="0"/>
              <a:t>Variant</a:t>
            </a:r>
            <a:r>
              <a:rPr lang="en-US" dirty="0"/>
              <a:t>, </a:t>
            </a:r>
            <a:r>
              <a:rPr lang="en-US" i="1" dirty="0" err="1"/>
              <a:t>FuelType</a:t>
            </a:r>
            <a:r>
              <a:rPr lang="en-US" dirty="0"/>
              <a:t>, </a:t>
            </a:r>
            <a:r>
              <a:rPr lang="en-US" i="1" dirty="0" err="1"/>
              <a:t>Colour</a:t>
            </a:r>
            <a:r>
              <a:rPr lang="en-US" dirty="0"/>
              <a:t>, </a:t>
            </a:r>
            <a:r>
              <a:rPr lang="en-US" i="1" dirty="0" err="1"/>
              <a:t>BodyStyle</a:t>
            </a:r>
            <a:r>
              <a:rPr lang="en-US" dirty="0"/>
              <a:t>, </a:t>
            </a:r>
            <a:r>
              <a:rPr lang="en-US" i="1" dirty="0" err="1"/>
              <a:t>TransmissionType</a:t>
            </a:r>
            <a:r>
              <a:rPr lang="en-US" dirty="0"/>
              <a:t>, </a:t>
            </a:r>
            <a:r>
              <a:rPr lang="en-US" i="1" dirty="0"/>
              <a:t>Owner</a:t>
            </a:r>
            <a:r>
              <a:rPr lang="en-US" dirty="0"/>
              <a:t> (1st/2nd owner, etc.), </a:t>
            </a:r>
            <a:r>
              <a:rPr lang="en-US" i="1" dirty="0" err="1"/>
              <a:t>DealerState</a:t>
            </a:r>
            <a:r>
              <a:rPr lang="en-US" dirty="0"/>
              <a:t>, </a:t>
            </a:r>
            <a:r>
              <a:rPr lang="en-US" i="1" dirty="0"/>
              <a:t>City</a:t>
            </a:r>
            <a:r>
              <a:rPr lang="en-US" dirty="0"/>
              <a:t>, etc.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Missing values:</a:t>
            </a:r>
            <a:r>
              <a:rPr lang="en-US" dirty="0"/>
              <a:t> ~714 missing in </a:t>
            </a:r>
            <a:r>
              <a:rPr lang="en-US" i="1" dirty="0" err="1"/>
              <a:t>TransmissionType</a:t>
            </a:r>
            <a:r>
              <a:rPr lang="en-US" i="1" dirty="0"/>
              <a:t> ,1 in  </a:t>
            </a:r>
            <a:r>
              <a:rPr lang="en-US" i="1" dirty="0" err="1"/>
              <a:t>FuelType</a:t>
            </a:r>
            <a:r>
              <a:rPr lang="en-US" dirty="0"/>
              <a:t> and 1064 in </a:t>
            </a:r>
            <a:r>
              <a:rPr lang="en-US" i="1" dirty="0" err="1"/>
              <a:t>CngKit</a:t>
            </a:r>
            <a:r>
              <a:rPr lang="en-US" dirty="0"/>
              <a:t>, handled by dropping/encoding.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Price cleaning:</a:t>
            </a:r>
            <a:r>
              <a:rPr lang="en-US" dirty="0"/>
              <a:t> Original Price was a string (e.g. “5.75 Lakhs”); we stripped “Lakhs” and converted to float (so 5.75).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dirty="0"/>
              <a:t>Basic EDA showed average prices by group: Diesel and hybrid vehicles fetched higher prices (avg ₹10.9L and ₹18.75L respectively) than petrol or CNG cars. First-owner cars had higher mean price (≈₹8.64L) than later-owner vehicles. Luxury brands (e.g. MG, Mercedes) led with the highest average used prices (~₹17–18L). These insights confirm that factors like fuel type, ownership count, brand and warranty strongly influence resale value.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203" y="121920"/>
            <a:ext cx="4621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/>
              <a:t>Exploratory Data Analysis(Numerical Features)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491252"/>
            <a:ext cx="11592560" cy="49138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5628640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Observations: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mileage and older cars generally have lower prices.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Cars with warranty and higher quality scores command higher prices.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Recent model years show stronger price retention.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716326"/>
            <a:ext cx="4927600" cy="31343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764" y="721115"/>
            <a:ext cx="4407356" cy="26316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074" y="721115"/>
            <a:ext cx="4516926" cy="27078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76" y="3850640"/>
            <a:ext cx="3961204" cy="235743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0" y="3822640"/>
            <a:ext cx="3986994" cy="231424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539" y="3746440"/>
            <a:ext cx="4927600" cy="22380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96889" y="201130"/>
            <a:ext cx="4732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Exploratory Data Analysis(Categorical Features)</a:t>
            </a:r>
            <a:endParaRPr lang="en-IN" b="1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80" y="0"/>
            <a:ext cx="6893120" cy="358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728720"/>
            <a:ext cx="65311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Observations: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Petrol and Diesel vehicles dominate the dataset.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Hatchback, Sedan, and SUV are the most common body types.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Majority of cars are from 1st owner category.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transmission is more prevalent than automatic</a:t>
            </a:r>
            <a:endParaRPr lang="en-IN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633492"/>
            <a:ext cx="9174480" cy="42677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68800" y="264160"/>
            <a:ext cx="2961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/>
              <a:t>Feature Relationship Analysis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21920" y="4998720"/>
            <a:ext cx="65762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Observations: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 increases with newer model year and higher quality score.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mileage has a negative impact on car value.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Warranty shows positive influence on pricing.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Quality score has a positive impact on car value.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 is moderately influenced by overall vehicle condition.</a:t>
            </a:r>
            <a:endParaRPr lang="en-IN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" y="596089"/>
            <a:ext cx="4318000" cy="24365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681" y="609600"/>
            <a:ext cx="5628640" cy="25501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" y="2938995"/>
            <a:ext cx="4511040" cy="19987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82160" y="121920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Price Relationship Analysis</a:t>
            </a:r>
            <a:endParaRPr lang="en-IN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72720" y="4937760"/>
            <a:ext cx="66378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Observations</a:t>
            </a:r>
            <a:r>
              <a:rPr lang="en-US" dirty="0"/>
              <a:t>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 decreases as mileage increases.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Newer model year vehicles command higher prices.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quality score is associated with higher car value.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relationships validate the importance of selected features.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" y="862551"/>
            <a:ext cx="9309363" cy="43190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3760" y="5435600"/>
            <a:ext cx="75218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Observations: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Mileage, quality score, and price show consistent interaction patterns.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mileage negatively impacts overall vehicle condition and price.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Combined feature relationships support robust model prediction.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155440" y="375920"/>
            <a:ext cx="336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Multivariate Relationship Analysis</a:t>
            </a:r>
            <a:endParaRPr lang="en-IN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094" y="909043"/>
            <a:ext cx="8507012" cy="39629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56968" y="172720"/>
            <a:ext cx="3065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Outlier &amp; Distribution Analysis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19760" y="5140960"/>
            <a:ext cx="55841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Observations: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Mileage contains several high-value outliers.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year is concentrated around recent years.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Quality score remains stable with few extreme values.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Outliers were carefully handled during preprocessing.</a:t>
            </a:r>
            <a:endParaRPr lang="en-IN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4320" y="284480"/>
            <a:ext cx="4490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Data </a:t>
            </a:r>
            <a:r>
              <a:rPr lang="en-IN" b="1" dirty="0" err="1"/>
              <a:t>Preprocesssing</a:t>
            </a:r>
            <a:r>
              <a:rPr lang="en-IN" b="1" dirty="0"/>
              <a:t> &amp; Feature Engineering  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23521" y="1056640"/>
            <a:ext cx="10718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▪ Missing Value Treatment:</a:t>
            </a:r>
            <a:br>
              <a:rPr lang="en-US" dirty="0"/>
            </a:br>
            <a:r>
              <a:rPr lang="en-US" dirty="0"/>
              <a:t>Handled missing values in key categorical features such as Fuel Type and Transmission Type by imputing with “Unknown” to preserve valuable records.</a:t>
            </a:r>
            <a:endParaRPr lang="en-US" dirty="0"/>
          </a:p>
          <a:p>
            <a:r>
              <a:rPr lang="en-US" b="1" dirty="0"/>
              <a:t>▪ Outlier Treatment:</a:t>
            </a:r>
            <a:br>
              <a:rPr lang="en-US" dirty="0"/>
            </a:br>
            <a:r>
              <a:rPr lang="en-US" dirty="0"/>
              <a:t>Detected and treated outliers in numerical features (Kilometer, </a:t>
            </a:r>
            <a:r>
              <a:rPr lang="en-US" dirty="0" err="1"/>
              <a:t>QualityScore</a:t>
            </a:r>
            <a:r>
              <a:rPr lang="en-US" dirty="0"/>
              <a:t>) using the IQR method to reduce noise and improve model robustness.</a:t>
            </a:r>
            <a:endParaRPr lang="en-US" dirty="0"/>
          </a:p>
          <a:p>
            <a:r>
              <a:rPr lang="en-US" b="1" dirty="0"/>
              <a:t>▪ Feature Creation:</a:t>
            </a:r>
            <a:br>
              <a:rPr lang="en-US" dirty="0"/>
            </a:br>
            <a:r>
              <a:rPr lang="en-US" dirty="0"/>
              <a:t>Created a new feature </a:t>
            </a:r>
            <a:r>
              <a:rPr lang="en-US" b="1" dirty="0"/>
              <a:t>Car Age</a:t>
            </a:r>
            <a:r>
              <a:rPr lang="en-US" dirty="0"/>
              <a:t> from Model Year to capture the impact of vehicle aging on price.</a:t>
            </a:r>
            <a:endParaRPr lang="en-US" dirty="0"/>
          </a:p>
          <a:p>
            <a:r>
              <a:rPr lang="en-US" b="1" dirty="0"/>
              <a:t>▪ Categorical Feature Encoding:</a:t>
            </a:r>
            <a:br>
              <a:rPr lang="en-US" dirty="0"/>
            </a:br>
            <a:r>
              <a:rPr lang="en-US" dirty="0"/>
              <a:t>Converted categorical variables such as Company, </a:t>
            </a:r>
            <a:r>
              <a:rPr lang="en-US" dirty="0" err="1"/>
              <a:t>FuelType</a:t>
            </a:r>
            <a:r>
              <a:rPr lang="en-US" dirty="0"/>
              <a:t>, Owner, City, and Transmission into numerical form using encoding techniques.</a:t>
            </a:r>
            <a:endParaRPr lang="en-US" dirty="0"/>
          </a:p>
          <a:p>
            <a:r>
              <a:rPr lang="en-US" b="1" dirty="0"/>
              <a:t>▪ Feature Scaling:</a:t>
            </a:r>
            <a:br>
              <a:rPr lang="en-US" dirty="0"/>
            </a:br>
            <a:r>
              <a:rPr lang="en-US" dirty="0"/>
              <a:t>Standardized numerical features including Kilometer, </a:t>
            </a:r>
            <a:r>
              <a:rPr lang="en-US" dirty="0" err="1"/>
              <a:t>ModelYear</a:t>
            </a:r>
            <a:r>
              <a:rPr lang="en-US" dirty="0"/>
              <a:t>, </a:t>
            </a:r>
            <a:r>
              <a:rPr lang="en-US" dirty="0" err="1"/>
              <a:t>QualityScore</a:t>
            </a:r>
            <a:r>
              <a:rPr lang="en-US" dirty="0"/>
              <a:t>, and </a:t>
            </a:r>
            <a:r>
              <a:rPr lang="en-US" dirty="0" err="1"/>
              <a:t>CarAge</a:t>
            </a:r>
            <a:r>
              <a:rPr lang="en-US" dirty="0"/>
              <a:t> to ensure consistent model training.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9440" y="111760"/>
            <a:ext cx="4443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Model Preparation and Feature Importance 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843677"/>
            <a:ext cx="78638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Splitting the Dataset</a:t>
            </a:r>
            <a:endParaRPr lang="en-US" b="1" dirty="0"/>
          </a:p>
          <a:p>
            <a:r>
              <a:rPr lang="en-US" dirty="0"/>
              <a:t>We divided the dataset into </a:t>
            </a:r>
            <a:r>
              <a:rPr lang="en-US" b="1" dirty="0"/>
              <a:t>training (80%)</a:t>
            </a:r>
            <a:r>
              <a:rPr lang="en-US" dirty="0"/>
              <a:t> and </a:t>
            </a:r>
            <a:r>
              <a:rPr lang="en-US" b="1" dirty="0"/>
              <a:t>testing (20%)</a:t>
            </a:r>
            <a:r>
              <a:rPr lang="en-US" dirty="0"/>
              <a:t> sets.</a:t>
            </a:r>
            <a:br>
              <a:rPr lang="en-US" dirty="0"/>
            </a:br>
            <a:r>
              <a:rPr lang="en-US" dirty="0"/>
              <a:t>This ensures that the model learns from one portion of the data and is evaluated on unseen data for reliable performance assessment.</a:t>
            </a:r>
            <a:endParaRPr lang="en-US" dirty="0"/>
          </a:p>
          <a:p>
            <a:r>
              <a:rPr lang="en-US" b="1" dirty="0"/>
              <a:t>Separating Features and Target</a:t>
            </a:r>
            <a:endParaRPr lang="en-US" b="1" dirty="0"/>
          </a:p>
          <a:p>
            <a:r>
              <a:rPr lang="en-US" dirty="0"/>
              <a:t>The dataset was separated into two parts:</a:t>
            </a:r>
            <a:br>
              <a:rPr lang="en-US" dirty="0"/>
            </a:br>
            <a:r>
              <a:rPr lang="en-US" b="1" dirty="0"/>
              <a:t>X (Independent Variables)</a:t>
            </a:r>
            <a:r>
              <a:rPr lang="en-US" dirty="0"/>
              <a:t> – all input features influencing the car price.</a:t>
            </a:r>
            <a:br>
              <a:rPr lang="en-US" dirty="0"/>
            </a:br>
            <a:r>
              <a:rPr lang="en-US" b="1" dirty="0"/>
              <a:t>y (Target Variable)</a:t>
            </a:r>
            <a:r>
              <a:rPr lang="en-US" dirty="0"/>
              <a:t> – the </a:t>
            </a:r>
            <a:r>
              <a:rPr lang="en-US" b="1" dirty="0"/>
              <a:t>Used Car Price</a:t>
            </a:r>
            <a:r>
              <a:rPr lang="en-US" dirty="0"/>
              <a:t> that the model aims to predict.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720" y="974681"/>
            <a:ext cx="5161280" cy="52127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3708400"/>
            <a:ext cx="69189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FEATURE IMPORTANCE:</a:t>
            </a:r>
            <a:endParaRPr lang="en-IN" b="1" dirty="0"/>
          </a:p>
          <a:p>
            <a:r>
              <a:rPr lang="en-US" dirty="0"/>
              <a:t>The Random Forest model was used to identify the most influential features affecting used car prices.</a:t>
            </a:r>
            <a:br>
              <a:rPr lang="en-US" dirty="0"/>
            </a:br>
            <a:r>
              <a:rPr lang="en-US" dirty="0"/>
              <a:t>The results show that </a:t>
            </a:r>
            <a:r>
              <a:rPr lang="en-US" b="1" dirty="0"/>
              <a:t>Body Style, Variant, Car Age, Company, Model, and Model Year</a:t>
            </a:r>
            <a:r>
              <a:rPr lang="en-US" dirty="0"/>
              <a:t> have the strongest impact on price prediction, while factors such as </a:t>
            </a:r>
            <a:r>
              <a:rPr lang="en-US" b="1" dirty="0"/>
              <a:t>Transmission Type, City, and Ownership</a:t>
            </a:r>
            <a:r>
              <a:rPr lang="en-US" dirty="0"/>
              <a:t> have relatively lower influence.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39920" y="203200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Model Selection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29986" y="936425"/>
            <a:ext cx="119811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Models used: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Decision Tree Regressor:</a:t>
            </a:r>
            <a:r>
              <a:rPr lang="en-US" dirty="0"/>
              <a:t> Decision Tree is used as a baseline regression model because it is simple, easy to interpret, and effective in capturing non-linear relationships between the input features and the car price.</a:t>
            </a:r>
            <a:endParaRPr lang="en-US" dirty="0"/>
          </a:p>
          <a:p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Random Forest Regressor:</a:t>
            </a:r>
            <a:r>
              <a:rPr lang="en-US" dirty="0"/>
              <a:t> Random Forest is a robust ensemble learning algorithm and was used mainly for </a:t>
            </a:r>
            <a:r>
              <a:rPr lang="en-US" b="1" dirty="0"/>
              <a:t>feature importance analysis</a:t>
            </a:r>
            <a:r>
              <a:rPr lang="en-US" dirty="0"/>
              <a:t> and for improving prediction stability.</a:t>
            </a:r>
            <a:endParaRPr lang="en-US" dirty="0"/>
          </a:p>
          <a:p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Gradient Boosting Regressor:</a:t>
            </a:r>
            <a:r>
              <a:rPr lang="en-US" dirty="0"/>
              <a:t> Gradient Boosting is an advanced ensemble technique that improves model performance by sequentially correcting errors of weak learners.</a:t>
            </a:r>
            <a:endParaRPr lang="en-US" dirty="0"/>
          </a:p>
          <a:p>
            <a:endParaRPr lang="en-US" dirty="0"/>
          </a:p>
          <a:p>
            <a:r>
              <a:rPr lang="en-US" dirty="0"/>
              <a:t>• </a:t>
            </a:r>
            <a:r>
              <a:rPr lang="en-US" b="1" dirty="0" err="1"/>
              <a:t>XGBoost</a:t>
            </a:r>
            <a:r>
              <a:rPr lang="en-US" b="1" dirty="0"/>
              <a:t> Regressor:</a:t>
            </a:r>
            <a:r>
              <a:rPr lang="en-US" dirty="0"/>
              <a:t> </a:t>
            </a:r>
            <a:r>
              <a:rPr lang="en-US" dirty="0" err="1"/>
              <a:t>XGBoost</a:t>
            </a:r>
            <a:r>
              <a:rPr lang="en-US" dirty="0"/>
              <a:t> is a powerful boosting algorithm used for regression problems. It was selected as the </a:t>
            </a:r>
            <a:r>
              <a:rPr lang="en-US" b="1" dirty="0"/>
              <a:t>final model</a:t>
            </a:r>
            <a:r>
              <a:rPr lang="en-US" dirty="0"/>
              <a:t> because it achieved the best accuracy and generalization performance on unseen data.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7" y="295940"/>
            <a:ext cx="7586326" cy="2232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437" y="3022730"/>
            <a:ext cx="597567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Experimental Results</a:t>
            </a:r>
            <a:endParaRPr lang="en-US" b="1" dirty="0"/>
          </a:p>
          <a:p>
            <a:r>
              <a:rPr lang="en-US" b="1" dirty="0" err="1"/>
              <a:t>XGBoost</a:t>
            </a:r>
            <a:r>
              <a:rPr lang="en-US" b="1" dirty="0"/>
              <a:t> Regressor:</a:t>
            </a:r>
            <a:br>
              <a:rPr lang="en-US" dirty="0"/>
            </a:br>
            <a:r>
              <a:rPr lang="en-US" dirty="0" err="1"/>
              <a:t>XGBoost</a:t>
            </a:r>
            <a:r>
              <a:rPr lang="en-US" dirty="0"/>
              <a:t> achieves the lowest error (MSE = 6.06, MAE = 1.52) and the highest R² score (0.75), indicating superior prediction accuracy.</a:t>
            </a:r>
            <a:endParaRPr lang="en-US" dirty="0"/>
          </a:p>
          <a:p>
            <a:r>
              <a:rPr lang="en-US" b="1" dirty="0"/>
              <a:t>Random Forest  &amp; Gradient Boosting Regressor:</a:t>
            </a:r>
            <a:br>
              <a:rPr lang="en-US" dirty="0"/>
            </a:br>
            <a:r>
              <a:rPr lang="en-US" dirty="0"/>
              <a:t>Random Forest performs consistently well with moderate error, while Gradient Boosting improves over Decision Tree but does not surpass </a:t>
            </a:r>
            <a:r>
              <a:rPr lang="en-US" dirty="0" err="1"/>
              <a:t>XGBoost</a:t>
            </a:r>
            <a:r>
              <a:rPr lang="en-US" dirty="0"/>
              <a:t>.</a:t>
            </a:r>
            <a:endParaRPr lang="en-US" dirty="0"/>
          </a:p>
          <a:p>
            <a:r>
              <a:rPr lang="en-US" b="1" dirty="0"/>
              <a:t>Decision Tree Regressor:</a:t>
            </a:r>
            <a:br>
              <a:rPr lang="en-US" dirty="0"/>
            </a:br>
            <a:r>
              <a:rPr lang="en-US" dirty="0"/>
              <a:t>Decision Tree provides a useful baseline but shows higher error compared to ensemble models.</a:t>
            </a:r>
            <a:endParaRPr lang="en-US" dirty="0"/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674" y="737119"/>
            <a:ext cx="6132889" cy="58249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390" y="505111"/>
            <a:ext cx="5501026" cy="61569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6889" y="130628"/>
            <a:ext cx="2614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Final Model Results</a:t>
            </a:r>
            <a:endParaRPr lang="en-US" b="1" dirty="0"/>
          </a:p>
          <a:p>
            <a:r>
              <a:rPr lang="en-US" i="1" dirty="0"/>
              <a:t>(Actual vs Predicted Price)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5944" y="1007706"/>
            <a:ext cx="6158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The predicted prices closely follow the actual prices, showing strong alignment with the ideal prediction line.</a:t>
            </a:r>
            <a:endParaRPr lang="en-US" dirty="0"/>
          </a:p>
          <a:p>
            <a:br>
              <a:rPr lang="en-US" dirty="0"/>
            </a:br>
            <a:r>
              <a:rPr lang="en-US" dirty="0"/>
              <a:t>This demonstrates that the final </a:t>
            </a:r>
            <a:r>
              <a:rPr lang="en-US" b="1" dirty="0" err="1"/>
              <a:t>XGBoost</a:t>
            </a:r>
            <a:r>
              <a:rPr lang="en-US" b="1" dirty="0"/>
              <a:t> model</a:t>
            </a:r>
            <a:r>
              <a:rPr lang="en-US" dirty="0"/>
              <a:t> is highly effective in capturing real market behavior and producing accurate price estimates.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793" y="0"/>
            <a:ext cx="5763207" cy="6238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59021" y="149290"/>
            <a:ext cx="1802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Model Validation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33266" y="906041"/>
            <a:ext cx="60648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residuals are randomly distributed around zero, indicating that the model does not show systematic bias and is well-fitted across different price ranges.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This confirms the reliability and stability of the final prediction model.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" y="503629"/>
            <a:ext cx="6144482" cy="32008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8498"/>
            <a:ext cx="6002053" cy="30044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53339" y="134297"/>
            <a:ext cx="2509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Prediction Error Analysis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93947" y="3928187"/>
            <a:ext cx="98980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prediction errors are concentrated around zero, indicating that the model produces unbiased and reliable estimates across different price ranges.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predicted price distribution closely follows the actual price distribution, demonstrating strong agreement between model predictions and real market values.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confirms that the model generalizes well and maintains consistent performance on unseen data.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19869" y="233265"/>
            <a:ext cx="2414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City-wise Price Analysis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635" y="602597"/>
            <a:ext cx="5611008" cy="3467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8971" y="4224078"/>
            <a:ext cx="103132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 prices vary significantly across different cities, reflecting the influence of local demand, market conditions, and buyer preferences.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cities consistently show higher median prices, while others display greater price variability, indicating differing levels of market competitiveness.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insight helps businesses tailor pricing strategies for specific regions and optimize inventory distribution.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33446" y="175845"/>
            <a:ext cx="3714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Model Interpretability -</a:t>
            </a:r>
            <a:r>
              <a:rPr lang="en-US" b="1" dirty="0" err="1" smtClean="0"/>
              <a:t>Shap</a:t>
            </a:r>
            <a:r>
              <a:rPr lang="en-US" b="1" dirty="0" smtClean="0"/>
              <a:t> Analysis</a:t>
            </a:r>
            <a:endParaRPr lang="en-US" b="1" dirty="0" smtClean="0"/>
          </a:p>
          <a:p>
            <a:endParaRPr lang="en-US" dirty="0"/>
          </a:p>
        </p:txBody>
      </p:sp>
      <p:pic>
        <p:nvPicPr>
          <p:cNvPr id="3" name="Picture 2" descr="Screenshot 2026-01-16 12395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77" y="697800"/>
            <a:ext cx="4007052" cy="3786278"/>
          </a:xfrm>
          <a:prstGeom prst="rect">
            <a:avLst/>
          </a:prstGeom>
        </p:spPr>
      </p:pic>
      <p:pic>
        <p:nvPicPr>
          <p:cNvPr id="4" name="Picture 3" descr="Screenshot 2026-01-16 093901.png"/>
          <p:cNvPicPr>
            <a:picLocks noChangeAspect="1"/>
          </p:cNvPicPr>
          <p:nvPr/>
        </p:nvPicPr>
        <p:blipFill>
          <a:blip r:embed="rId2"/>
          <a:srcRect t="3781"/>
          <a:stretch>
            <a:fillRect/>
          </a:stretch>
        </p:blipFill>
        <p:spPr>
          <a:xfrm>
            <a:off x="5881975" y="861647"/>
            <a:ext cx="5893560" cy="3393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765431"/>
            <a:ext cx="442253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Observations:</a:t>
            </a:r>
            <a:endParaRPr lang="en-US" sz="12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 smtClean="0"/>
              <a:t>BodyStyle</a:t>
            </a:r>
            <a:r>
              <a:rPr lang="en-US" sz="1200" dirty="0" smtClean="0"/>
              <a:t> is the most influential feature, contributing an average of </a:t>
            </a:r>
            <a:r>
              <a:rPr lang="en-US" sz="1200" b="1" dirty="0" smtClean="0"/>
              <a:t>+2.06 </a:t>
            </a:r>
            <a:r>
              <a:rPr lang="en-US" sz="1200" b="1" dirty="0" err="1" smtClean="0"/>
              <a:t>Lakhs</a:t>
            </a:r>
            <a:r>
              <a:rPr lang="en-US" sz="1200" dirty="0" smtClean="0"/>
              <a:t> to the model’s predictions.</a:t>
            </a:r>
            <a:endParaRPr lang="en-US" sz="1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 smtClean="0"/>
              <a:t>ModelYear</a:t>
            </a:r>
            <a:r>
              <a:rPr lang="en-US" sz="1200" dirty="0" smtClean="0"/>
              <a:t> and Company also have strong impact, suggesting that newer models and certain brands significantly raise the predicted price.</a:t>
            </a:r>
            <a:endParaRPr lang="en-US" sz="1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/>
              <a:t>Features like </a:t>
            </a:r>
            <a:r>
              <a:rPr lang="en-US" sz="1200" dirty="0" err="1" smtClean="0"/>
              <a:t>Colour</a:t>
            </a:r>
            <a:r>
              <a:rPr lang="en-US" sz="1200" dirty="0" smtClean="0"/>
              <a:t>, Warranty, City, and Owner had relatively minor effects.</a:t>
            </a:r>
            <a:endParaRPr lang="en-US" sz="1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 smtClean="0"/>
              <a:t>CarAge</a:t>
            </a:r>
            <a:r>
              <a:rPr lang="en-US" sz="1200" dirty="0" smtClean="0"/>
              <a:t> appears to have no impact, possibly due to being correlated with other variables (e.g., </a:t>
            </a:r>
            <a:r>
              <a:rPr lang="en-US" sz="1200" dirty="0" err="1" smtClean="0"/>
              <a:t>ModelYear</a:t>
            </a:r>
            <a:r>
              <a:rPr lang="en-US" sz="1200" dirty="0" smtClean="0"/>
              <a:t>).</a:t>
            </a:r>
            <a:endParaRPr lang="en-US" sz="1200" dirty="0" smtClean="0"/>
          </a:p>
          <a:p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6849208" y="4334607"/>
            <a:ext cx="487973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smtClean="0"/>
              <a:t>Observations:</a:t>
            </a:r>
            <a:endParaRPr lang="en-US" sz="1100" b="1" dirty="0" smtClean="0"/>
          </a:p>
          <a:p>
            <a:r>
              <a:rPr lang="en-US" sz="1100" b="1" dirty="0" smtClean="0"/>
              <a:t>Base Value (E[f(x)]):</a:t>
            </a:r>
            <a:r>
              <a:rPr lang="en-US" sz="1100" dirty="0" smtClean="0"/>
              <a:t> ~8.40 </a:t>
            </a:r>
            <a:r>
              <a:rPr lang="en-US" sz="1100" dirty="0" err="1" smtClean="0"/>
              <a:t>Lakhs</a:t>
            </a:r>
            <a:r>
              <a:rPr lang="en-US" sz="1100" dirty="0" smtClean="0"/>
              <a:t> — this is the average model prediction across all cars.</a:t>
            </a:r>
            <a:endParaRPr lang="en-US" sz="1100" dirty="0" smtClean="0"/>
          </a:p>
          <a:p>
            <a:r>
              <a:rPr lang="en-US" sz="1100" b="1" dirty="0" smtClean="0"/>
              <a:t>Final Prediction (f(x)) = 10.615 </a:t>
            </a:r>
            <a:r>
              <a:rPr lang="en-US" sz="1100" b="1" dirty="0" err="1" smtClean="0"/>
              <a:t>Lakhs</a:t>
            </a:r>
            <a:r>
              <a:rPr lang="en-US" sz="1100" dirty="0" smtClean="0"/>
              <a:t> — after all SHAP values are added.</a:t>
            </a:r>
            <a:endParaRPr lang="en-US" sz="1100" dirty="0" smtClean="0"/>
          </a:p>
          <a:p>
            <a:r>
              <a:rPr lang="en-US" sz="1100" dirty="0" smtClean="0"/>
              <a:t>Negative Contributors (Pushed price down):</a:t>
            </a:r>
            <a:endParaRPr lang="en-US" sz="1100" dirty="0" smtClean="0"/>
          </a:p>
          <a:p>
            <a:r>
              <a:rPr lang="en-US" sz="1100" dirty="0" err="1" smtClean="0"/>
              <a:t>ModelYear</a:t>
            </a:r>
            <a:r>
              <a:rPr lang="en-US" sz="1100" dirty="0" smtClean="0"/>
              <a:t> = -0.956 (older car model)</a:t>
            </a:r>
            <a:endParaRPr lang="en-US" sz="1100" dirty="0" smtClean="0"/>
          </a:p>
          <a:p>
            <a:r>
              <a:rPr lang="en-US" sz="1100" dirty="0" err="1" smtClean="0"/>
              <a:t>DealerName</a:t>
            </a:r>
            <a:r>
              <a:rPr lang="en-US" sz="1100" dirty="0" smtClean="0"/>
              <a:t> = 27 and </a:t>
            </a:r>
            <a:r>
              <a:rPr lang="en-US" sz="1100" dirty="0" err="1" smtClean="0"/>
              <a:t>QualityScore</a:t>
            </a:r>
            <a:r>
              <a:rPr lang="en-US" sz="1100" dirty="0" smtClean="0"/>
              <a:t> = -1.62 — reduced the confidence or trust in quality.</a:t>
            </a:r>
            <a:endParaRPr lang="en-US" sz="1100" dirty="0" smtClean="0"/>
          </a:p>
          <a:p>
            <a:r>
              <a:rPr lang="en-US" sz="1100" dirty="0" smtClean="0"/>
              <a:t>Kilometer = -0.16` — higher mileage decreases price.</a:t>
            </a:r>
            <a:endParaRPr lang="en-US" sz="1100" dirty="0" smtClean="0"/>
          </a:p>
          <a:p>
            <a:r>
              <a:rPr lang="en-US" sz="1100" dirty="0" smtClean="0"/>
              <a:t>Positive Contributors (Pushed price up):</a:t>
            </a:r>
            <a:endParaRPr lang="en-US" sz="1100" dirty="0" smtClean="0"/>
          </a:p>
          <a:p>
            <a:r>
              <a:rPr lang="en-US" sz="1100" dirty="0" smtClean="0"/>
              <a:t>Company = 0 and </a:t>
            </a:r>
            <a:r>
              <a:rPr lang="en-US" sz="1100" dirty="0" err="1" smtClean="0"/>
              <a:t>BodyStyle</a:t>
            </a:r>
            <a:r>
              <a:rPr lang="en-US" sz="1100" dirty="0" smtClean="0"/>
              <a:t> = 5` — strong influence adding +1.82 and +1.4 </a:t>
            </a:r>
            <a:r>
              <a:rPr lang="en-US" sz="1100" dirty="0" err="1" smtClean="0"/>
              <a:t>Lakhs</a:t>
            </a:r>
            <a:r>
              <a:rPr lang="en-US" sz="1100" dirty="0" smtClean="0"/>
              <a:t>.</a:t>
            </a:r>
            <a:endParaRPr lang="en-US" sz="1100" dirty="0" smtClean="0"/>
          </a:p>
          <a:p>
            <a:r>
              <a:rPr lang="en-US" sz="1100" dirty="0" smtClean="0"/>
              <a:t>Model = 3, </a:t>
            </a:r>
            <a:r>
              <a:rPr lang="en-US" sz="1100" dirty="0" err="1" smtClean="0"/>
              <a:t>Colour</a:t>
            </a:r>
            <a:r>
              <a:rPr lang="en-US" sz="1100" dirty="0" smtClean="0"/>
              <a:t>, Variant, and </a:t>
            </a:r>
            <a:r>
              <a:rPr lang="en-US" sz="1100" dirty="0" err="1" smtClean="0"/>
              <a:t>FuelType</a:t>
            </a:r>
            <a:r>
              <a:rPr lang="en-US" sz="1100" dirty="0" smtClean="0"/>
              <a:t> — all added small positive values.</a:t>
            </a:r>
            <a:endParaRPr lang="en-US" sz="1100" dirty="0" smtClean="0"/>
          </a:p>
          <a:p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1-16 14024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8408"/>
            <a:ext cx="4587161" cy="3974123"/>
          </a:xfrm>
          <a:prstGeom prst="rect">
            <a:avLst/>
          </a:prstGeom>
        </p:spPr>
      </p:pic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EEEEEE"/>
          </a:solidFill>
          <a:ln w="9525">
            <a:noFill/>
            <a:miter lim="800000"/>
          </a:ln>
          <a:effectLst/>
        </p:spPr>
        <p:txBody>
          <a:bodyPr vert="horz" wrap="none" lIns="50784" tIns="76785408" rIns="0" bIns="7935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5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Observations:</a:t>
            </a:r>
            <a:endParaRPr kumimoji="0" lang="en-US" sz="15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ystem-ui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  <a:cs typeface="Arial" panose="020B0604020202020204" pitchFamily="34" charset="0"/>
              </a:rPr>
              <a:t>BodyStyle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, 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  <a:cs typeface="Arial" panose="020B0604020202020204" pitchFamily="34" charset="0"/>
              </a:rPr>
              <a:t>ModelYear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, and 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  <a:cs typeface="Arial" panose="020B0604020202020204" pitchFamily="34" charset="0"/>
              </a:rPr>
              <a:t>Company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 are the most influential features overall.</a:t>
            </a:r>
            <a:endParaRPr kumimoji="0" 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ystem-ui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For 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  <a:cs typeface="Arial" panose="020B0604020202020204" pitchFamily="34" charset="0"/>
              </a:rPr>
              <a:t>BodyStyle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, </a:t>
            </a:r>
            <a:r>
              <a:rPr kumimoji="0" lang="en-US" sz="1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low values (blue)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 tend to reduce the predicted price (shift left), while high values increase it.</a:t>
            </a:r>
            <a:endParaRPr kumimoji="0" 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ystem-ui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  <a:cs typeface="Arial" panose="020B0604020202020204" pitchFamily="34" charset="0"/>
              </a:rPr>
              <a:t>ModelYear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: </a:t>
            </a:r>
            <a:r>
              <a:rPr kumimoji="0" lang="en-US" sz="1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Newer cars (red)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 generally increase the price (SHAP value &gt; 0), older ones (blue) reduce it.</a:t>
            </a:r>
            <a:endParaRPr kumimoji="0" 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ystem-ui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  <a:cs typeface="Arial" panose="020B0604020202020204" pitchFamily="34" charset="0"/>
              </a:rPr>
              <a:t>Kilometer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: </a:t>
            </a:r>
            <a:r>
              <a:rPr kumimoji="0" lang="en-US" sz="1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Lower mileage (blue)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 tends to increase price, while higher mileage (red) pushes the prediction down.</a:t>
            </a:r>
            <a:endParaRPr kumimoji="0" 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ystem-ui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Several features like 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  <a:cs typeface="Arial" panose="020B0604020202020204" pitchFamily="34" charset="0"/>
              </a:rPr>
              <a:t>Colour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, 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  <a:cs typeface="Arial" panose="020B0604020202020204" pitchFamily="34" charset="0"/>
              </a:rPr>
              <a:t>Owner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, 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  <a:cs typeface="Arial" panose="020B0604020202020204" pitchFamily="34" charset="0"/>
              </a:rPr>
              <a:t>City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, and 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  <a:cs typeface="Arial" panose="020B0604020202020204" pitchFamily="34" charset="0"/>
              </a:rPr>
              <a:t>CarAge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  <a:cs typeface="Arial" panose="020B0604020202020204" pitchFamily="34" charset="0"/>
              </a:rPr>
              <a:t> show low spread and small impact.</a:t>
            </a:r>
            <a:endParaRPr kumimoji="0" 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ystem-ui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7053" y="4360986"/>
            <a:ext cx="555673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Observations:</a:t>
            </a:r>
            <a:endParaRPr lang="en-US" sz="1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 smtClean="0"/>
              <a:t>BodyStyle</a:t>
            </a:r>
            <a:r>
              <a:rPr lang="en-US" sz="1400" dirty="0" smtClean="0"/>
              <a:t>, </a:t>
            </a:r>
            <a:r>
              <a:rPr lang="en-US" sz="1400" dirty="0" err="1" smtClean="0"/>
              <a:t>ModelYear</a:t>
            </a:r>
            <a:r>
              <a:rPr lang="en-US" sz="1400" dirty="0" smtClean="0"/>
              <a:t>, and Company are the most influential features overall.</a:t>
            </a:r>
            <a:endParaRPr lang="en-US" sz="1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/>
              <a:t>For </a:t>
            </a:r>
            <a:r>
              <a:rPr lang="en-US" sz="1400" dirty="0" err="1" smtClean="0"/>
              <a:t>BodyStyle</a:t>
            </a:r>
            <a:r>
              <a:rPr lang="en-US" sz="1400" dirty="0" smtClean="0"/>
              <a:t>, </a:t>
            </a:r>
            <a:r>
              <a:rPr lang="en-US" sz="1400" b="1" dirty="0" smtClean="0"/>
              <a:t>low values (blue)</a:t>
            </a:r>
            <a:r>
              <a:rPr lang="en-US" sz="1400" dirty="0" smtClean="0"/>
              <a:t> tend to reduce the predicted price (shift left), while high values increase it.</a:t>
            </a:r>
            <a:endParaRPr lang="en-US" sz="1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 smtClean="0"/>
              <a:t>ModelYear</a:t>
            </a:r>
            <a:r>
              <a:rPr lang="en-US" sz="1400" dirty="0" smtClean="0"/>
              <a:t>: </a:t>
            </a:r>
            <a:r>
              <a:rPr lang="en-US" sz="1400" b="1" dirty="0" smtClean="0"/>
              <a:t>Newer cars (red)</a:t>
            </a:r>
            <a:r>
              <a:rPr lang="en-US" sz="1400" dirty="0" smtClean="0"/>
              <a:t> generally increase the price (SHAP value &gt; 0), older ones (blue) reduce it.</a:t>
            </a:r>
            <a:endParaRPr lang="en-US" sz="1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/>
              <a:t>Kilometer: </a:t>
            </a:r>
            <a:r>
              <a:rPr lang="en-US" sz="1400" b="1" dirty="0" smtClean="0"/>
              <a:t>Lower mileage (blue)</a:t>
            </a:r>
            <a:r>
              <a:rPr lang="en-US" sz="1400" dirty="0" smtClean="0"/>
              <a:t> tends to increase price, while higher mileage (red) pushes the prediction down.</a:t>
            </a:r>
            <a:endParaRPr lang="en-US" sz="1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/>
              <a:t>Several features like </a:t>
            </a:r>
            <a:r>
              <a:rPr lang="en-US" sz="1400" dirty="0" err="1" smtClean="0"/>
              <a:t>Colour</a:t>
            </a:r>
            <a:r>
              <a:rPr lang="en-US" sz="1400" dirty="0" smtClean="0"/>
              <a:t>, Owner, City, and </a:t>
            </a:r>
            <a:r>
              <a:rPr lang="en-US" sz="1400" dirty="0" err="1" smtClean="0"/>
              <a:t>CarAge</a:t>
            </a:r>
            <a:r>
              <a:rPr lang="en-US" sz="1400" dirty="0" smtClean="0"/>
              <a:t> show low spread and small impact.</a:t>
            </a:r>
            <a:endParaRPr lang="en-US" sz="1400" dirty="0" smtClean="0"/>
          </a:p>
          <a:p>
            <a:endParaRPr lang="en-US" sz="1400" dirty="0"/>
          </a:p>
        </p:txBody>
      </p:sp>
      <p:pic>
        <p:nvPicPr>
          <p:cNvPr id="6" name="Picture 5" descr="Screenshot 2026-01-16 13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726" y="476587"/>
            <a:ext cx="6973274" cy="3972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5438" y="4756638"/>
            <a:ext cx="54900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/>
              <a:t>The SHAP decision plot reveals how individual features contributed to the predicted car price.</a:t>
            </a:r>
            <a:endParaRPr lang="en-US" sz="1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/>
              <a:t>The prediction starts from a base value of approximately 8.5 </a:t>
            </a:r>
            <a:r>
              <a:rPr lang="en-US" sz="1200" dirty="0" err="1" smtClean="0"/>
              <a:t>Lakhs</a:t>
            </a:r>
            <a:r>
              <a:rPr lang="en-US" sz="1200" dirty="0" smtClean="0"/>
              <a:t>.</a:t>
            </a:r>
            <a:endParaRPr lang="en-US" sz="1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/>
              <a:t>Features such as Variant, Company, and </a:t>
            </a:r>
            <a:r>
              <a:rPr lang="en-US" sz="1200" dirty="0" err="1" smtClean="0"/>
              <a:t>CarAge</a:t>
            </a:r>
            <a:r>
              <a:rPr lang="en-US" sz="1200" dirty="0" smtClean="0"/>
              <a:t> had strong positive contributions, increasing the final predicted value.</a:t>
            </a:r>
            <a:endParaRPr lang="en-US" sz="1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/>
              <a:t>In contrast, features like </a:t>
            </a:r>
            <a:r>
              <a:rPr lang="en-US" sz="1200" dirty="0" err="1" smtClean="0"/>
              <a:t>ModelYear</a:t>
            </a:r>
            <a:r>
              <a:rPr lang="en-US" sz="1200" dirty="0" smtClean="0"/>
              <a:t> and </a:t>
            </a:r>
            <a:r>
              <a:rPr lang="en-US" sz="1200" dirty="0" err="1" smtClean="0"/>
              <a:t>QualityScore</a:t>
            </a:r>
            <a:r>
              <a:rPr lang="en-US" sz="1200" dirty="0" smtClean="0"/>
              <a:t> had negative contributions, slightly lowering the price.</a:t>
            </a:r>
            <a:endParaRPr lang="en-US" sz="1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/>
              <a:t>The cumulative effect of these features led to a final prediction of approximately 12 </a:t>
            </a:r>
            <a:r>
              <a:rPr lang="en-US" sz="1200" dirty="0" err="1" smtClean="0"/>
              <a:t>Lakhs</a:t>
            </a:r>
            <a:r>
              <a:rPr lang="en-US" sz="1200" dirty="0" smtClean="0"/>
              <a:t> for this specific car.</a:t>
            </a:r>
            <a:endParaRPr lang="en-US" sz="1200" dirty="0" smtClean="0"/>
          </a:p>
          <a:p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36831" y="228600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LIME Explainer</a:t>
            </a:r>
            <a:endParaRPr lang="en-US" b="1" dirty="0" smtClean="0"/>
          </a:p>
          <a:p>
            <a:endParaRPr lang="en-US" dirty="0"/>
          </a:p>
        </p:txBody>
      </p:sp>
      <p:pic>
        <p:nvPicPr>
          <p:cNvPr id="4" name="Picture 3" descr="Screenshot 2026-01-16 17195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198" y="762912"/>
            <a:ext cx="11599964" cy="26768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1838" y="3833446"/>
            <a:ext cx="10056495" cy="2861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Predicted Price:</a:t>
            </a:r>
            <a:r>
              <a:rPr lang="en-US" dirty="0" smtClean="0"/>
              <a:t> ₹6.09 </a:t>
            </a:r>
            <a:r>
              <a:rPr lang="en-US" dirty="0" err="1" smtClean="0"/>
              <a:t>Lakhs</a:t>
            </a:r>
            <a:r>
              <a:rPr lang="en-US" dirty="0" smtClean="0"/>
              <a:t> for this specific used car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Positive Contributions:</a:t>
            </a:r>
            <a:endParaRPr lang="en-US" dirty="0" smtClean="0"/>
          </a:p>
          <a:p>
            <a:r>
              <a:rPr lang="en-US" dirty="0" smtClean="0"/>
              <a:t>Company = 19 and </a:t>
            </a:r>
            <a:r>
              <a:rPr lang="en-US" dirty="0" err="1" smtClean="0"/>
              <a:t>ModelYear</a:t>
            </a:r>
            <a:r>
              <a:rPr lang="en-US" dirty="0" smtClean="0"/>
              <a:t> = 1 </a:t>
            </a:r>
            <a:r>
              <a:rPr lang="en-US" b="1" dirty="0" smtClean="0"/>
              <a:t>increased</a:t>
            </a:r>
            <a:r>
              <a:rPr lang="en-US" dirty="0" smtClean="0"/>
              <a:t> the prediction by ~1.84 </a:t>
            </a:r>
            <a:r>
              <a:rPr lang="en-US" dirty="0" err="1" smtClean="0"/>
              <a:t>Lakhs</a:t>
            </a:r>
            <a:r>
              <a:rPr lang="en-US" dirty="0" smtClean="0"/>
              <a:t> and ~0.71 </a:t>
            </a:r>
            <a:r>
              <a:rPr lang="en-US" dirty="0" err="1" smtClean="0"/>
              <a:t>Lakhs</a:t>
            </a:r>
            <a:r>
              <a:rPr lang="en-US" dirty="0" smtClean="0"/>
              <a:t> respectively.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Negative </a:t>
            </a:r>
            <a:r>
              <a:rPr lang="en-US" b="1" dirty="0" smtClean="0"/>
              <a:t>Contributions</a:t>
            </a:r>
            <a:r>
              <a:rPr lang="en-US" b="1" dirty="0" smtClean="0"/>
              <a:t>:</a:t>
            </a:r>
            <a:endParaRPr lang="en-US" b="1" dirty="0" smtClean="0"/>
          </a:p>
          <a:p>
            <a:r>
              <a:rPr lang="en-US" dirty="0" err="1" smtClean="0"/>
              <a:t>BodyStyle</a:t>
            </a:r>
            <a:r>
              <a:rPr lang="en-US" dirty="0" smtClean="0"/>
              <a:t> </a:t>
            </a:r>
            <a:r>
              <a:rPr lang="en-US" dirty="0" smtClean="0"/>
              <a:t>= HATCHBACK </a:t>
            </a:r>
            <a:r>
              <a:rPr lang="en-US" b="1" dirty="0" smtClean="0"/>
              <a:t>decreased</a:t>
            </a:r>
            <a:r>
              <a:rPr lang="en-US" dirty="0" smtClean="0"/>
              <a:t> the prediction significantly by ~1.75 </a:t>
            </a:r>
            <a:r>
              <a:rPr lang="en-US" dirty="0" err="1" smtClean="0"/>
              <a:t>Lakhs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Other features such as </a:t>
            </a:r>
            <a:r>
              <a:rPr lang="en-US" dirty="0" err="1" smtClean="0"/>
              <a:t>QualityScore</a:t>
            </a:r>
            <a:r>
              <a:rPr lang="en-US" dirty="0" smtClean="0"/>
              <a:t>, Model, and </a:t>
            </a:r>
            <a:r>
              <a:rPr lang="en-US" dirty="0" err="1" smtClean="0"/>
              <a:t>DealerName</a:t>
            </a:r>
            <a:r>
              <a:rPr lang="en-US" dirty="0" smtClean="0"/>
              <a:t> also had small negative impacts.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16 17244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071838" cy="41939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9469" y="4448907"/>
            <a:ext cx="1067394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 Power BI dashboard was developed to visualize key patterns in the used car market.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The bar chart presents average car price by company, helping compare brand-wise resale value.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The fuel-type donut chart illustrates the distribution of petrol, diesel, and CNG cars in the dataset.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The Kilometer </a:t>
            </a:r>
            <a:r>
              <a:rPr lang="en-US" dirty="0" err="1" smtClean="0"/>
              <a:t>vs</a:t>
            </a:r>
            <a:r>
              <a:rPr lang="en-US" dirty="0" smtClean="0"/>
              <a:t> Price visual demonstrates that higher kilometers driven generally lead to lower resale prices.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KPI cards provide a quick high-level summary of important metrics such as average price and total vehicles.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The interactive filters allow analysis based on city, dealer state, and body style for localized insights.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8613" y="186612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Conclusion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45233" y="735655"/>
            <a:ext cx="91066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Outcomes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machine learning model successfully captures used car pricing patterns across major metro cities.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pricing drivers such as vehicle age, mileage, model year, quality score, body style, and brand were identified.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final model provides reliable and consistent price predictions aligned with real market behavior.</a:t>
            </a:r>
            <a:endParaRPr lang="en-US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78198" y="4972667"/>
            <a:ext cx="679532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Business Impact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accurate pricing recommendations for buyers and sellers.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inventory optimization and turnover for dealers.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Strengthens customer trust through transparent pricing.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smarter regional and market-level decisions.</a:t>
            </a:r>
            <a:endParaRPr lang="en-US" dirty="0"/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84112" y="2842501"/>
            <a:ext cx="992393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Limitations:</a:t>
            </a: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The </a:t>
            </a:r>
            <a:r>
              <a:rPr lang="en-US" sz="1600" dirty="0" smtClean="0"/>
              <a:t>model is trained on a relatively small dataset of 1,064 records, which may limit its ability to generalize to a broader used-car market.</a:t>
            </a:r>
            <a:endParaRPr lang="en-US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A smaller dataset may not fully capture the diversity of the used car market across different regions and brands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The </a:t>
            </a:r>
            <a:r>
              <a:rPr lang="en-US" sz="1600" dirty="0" smtClean="0"/>
              <a:t>limited sample size increases the risk of model bias toward patterns present in the available data.</a:t>
            </a:r>
            <a:endParaRPr lang="en-US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With more data, the model could learn more robust relationships between features and car prices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 smtClean="0"/>
              <a:t>Hyperparameter</a:t>
            </a:r>
            <a:r>
              <a:rPr lang="en-US" sz="1600" dirty="0" smtClean="0"/>
              <a:t> tuning was attempted using Grid Search/Random Search, but it reduced model accuracy, so the original model was retained.</a:t>
            </a:r>
            <a:endParaRPr lang="en-US" sz="16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endParaRPr lang="en-US" sz="16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1287" y="4498229"/>
            <a:ext cx="98171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Future Scope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can be deployed as a pricing intelligence tool within the client’s marketplace platform.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 with real-time market data can enable dynamic pricing updates.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Additional behavioral and demand indicators can further enhance prediction accuracy.</a:t>
            </a:r>
            <a:endParaRPr lang="en-US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02222" y="131885"/>
            <a:ext cx="1064748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Deployment Strategy (</a:t>
            </a:r>
            <a:r>
              <a:rPr lang="en-US" b="1" dirty="0" smtClean="0"/>
              <a:t>Prototype)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The trained machine learning model was saved and loaded in the application for reuse.</a:t>
            </a:r>
            <a:endParaRPr lang="en-US" dirty="0" smtClean="0"/>
          </a:p>
          <a:p>
            <a:r>
              <a:rPr lang="en-US" b="1" dirty="0" smtClean="0"/>
              <a:t>Web-Based Interface (Implemented):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The model has been deployed as a </a:t>
            </a:r>
            <a:r>
              <a:rPr lang="en-US" b="1" dirty="0" err="1" smtClean="0"/>
              <a:t>Streamlit</a:t>
            </a:r>
            <a:r>
              <a:rPr lang="en-US" b="1" dirty="0" smtClean="0"/>
              <a:t> web application on </a:t>
            </a:r>
            <a:r>
              <a:rPr lang="en-US" b="1" dirty="0" err="1" smtClean="0"/>
              <a:t>localhost</a:t>
            </a:r>
            <a:r>
              <a:rPr lang="en-US" dirty="0" smtClean="0"/>
              <a:t>.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Users can input car details through an interactive UI and receive instant predictions.</a:t>
            </a:r>
            <a:endParaRPr lang="en-US" dirty="0" smtClean="0"/>
          </a:p>
          <a:p>
            <a:r>
              <a:rPr lang="en-US" b="1" dirty="0" smtClean="0"/>
              <a:t>Real-Time Inference:</a:t>
            </a:r>
            <a:endParaRPr lang="en-US" dirty="0" smtClean="0"/>
          </a:p>
          <a:p>
            <a:pPr lvl="1"/>
            <a:r>
              <a:rPr lang="en-US" dirty="0" smtClean="0"/>
              <a:t>The model is loaded in memory when the app starts, enabling low-latency, real-time predictions.</a:t>
            </a:r>
            <a:endParaRPr lang="en-US" dirty="0" smtClean="0"/>
          </a:p>
          <a:p>
            <a:r>
              <a:rPr lang="en-US" b="1" dirty="0" smtClean="0"/>
              <a:t>Input Processing &amp; Validation (Prototype Level):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User inputs are collected, preprocessed, and formatted before being passed to the model.</a:t>
            </a:r>
            <a:endParaRPr lang="en-US" dirty="0" smtClean="0"/>
          </a:p>
          <a:p>
            <a:r>
              <a:rPr lang="en-US" b="1" dirty="0" smtClean="0"/>
              <a:t>Future Deployment Plan (Scalable Strategy):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Host the </a:t>
            </a:r>
            <a:r>
              <a:rPr lang="en-US" dirty="0" err="1" smtClean="0"/>
              <a:t>Streamlit</a:t>
            </a:r>
            <a:r>
              <a:rPr lang="en-US" dirty="0" smtClean="0"/>
              <a:t> app on </a:t>
            </a:r>
            <a:r>
              <a:rPr lang="en-US" b="1" dirty="0" err="1" smtClean="0"/>
              <a:t>Streamlit</a:t>
            </a:r>
            <a:r>
              <a:rPr lang="en-US" b="1" dirty="0" smtClean="0"/>
              <a:t> Cloud / Render / AWS</a:t>
            </a:r>
            <a:r>
              <a:rPr lang="en-US" dirty="0" smtClean="0"/>
              <a:t> for public access.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Alternatively, expose the model as a </a:t>
            </a:r>
            <a:r>
              <a:rPr lang="en-US" b="1" dirty="0" smtClean="0"/>
              <a:t>Flask/</a:t>
            </a:r>
            <a:r>
              <a:rPr lang="en-US" b="1" dirty="0" err="1" smtClean="0"/>
              <a:t>FastAPI</a:t>
            </a:r>
            <a:r>
              <a:rPr lang="en-US" b="1" dirty="0" smtClean="0"/>
              <a:t> REST API</a:t>
            </a:r>
            <a:r>
              <a:rPr lang="en-US" dirty="0" smtClean="0"/>
              <a:t> for integration with other systems.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/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/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609EDA-869E-4BE5-AE5D-B898C584B6FF}">
  <ds:schemaRefs/>
</ds:datastoreItem>
</file>

<file path=customXml/itemProps2.xml><?xml version="1.0" encoding="utf-8"?>
<ds:datastoreItem xmlns:ds="http://schemas.openxmlformats.org/officeDocument/2006/customXml" ds:itemID="{2FD05317-60D6-4B3A-8545-888496D1A8EC}">
  <ds:schemaRefs/>
</ds:datastoreItem>
</file>

<file path=customXml/itemProps3.xml><?xml version="1.0" encoding="utf-8"?>
<ds:datastoreItem xmlns:ds="http://schemas.openxmlformats.org/officeDocument/2006/customXml" ds:itemID="{61A00BBF-EEBB-4E18-B8CB-F926EAAC48F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0</TotalTime>
  <Words>13397</Words>
  <Application>WPS Presentation</Application>
  <PresentationFormat>Custom</PresentationFormat>
  <Paragraphs>277</Paragraphs>
  <Slides>26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SimSun</vt:lpstr>
      <vt:lpstr>Wingdings</vt:lpstr>
      <vt:lpstr>Century Gothic</vt:lpstr>
      <vt:lpstr>Segoe UI Light</vt:lpstr>
      <vt:lpstr>Microsoft YaHei</vt:lpstr>
      <vt:lpstr>Arial Unicode MS</vt:lpstr>
      <vt:lpstr>Calibri</vt:lpstr>
      <vt:lpstr>system-ui</vt:lpstr>
      <vt:lpstr>Segoe Print</vt:lpstr>
      <vt:lpstr>menlo</vt:lpstr>
      <vt:lpstr>Office Theme</vt:lpstr>
      <vt:lpstr>Predicting Used Car Prices</vt:lpstr>
      <vt:lpstr> Overview: </vt:lpstr>
      <vt:lpstr>Project analysis slide 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Used Car Prices</dc:title>
  <dc:creator>Ritesh Kumar</dc:creator>
  <cp:lastModifiedBy>LOQ</cp:lastModifiedBy>
  <cp:revision>13</cp:revision>
  <dcterms:created xsi:type="dcterms:W3CDTF">2026-01-10T06:53:00Z</dcterms:created>
  <dcterms:modified xsi:type="dcterms:W3CDTF">2026-01-16T16:14:22Z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8ED7EC3F3AE44EC1AF1EE0F3BC6B33A3_12</vt:lpwstr>
  </property>
  <property fmtid="{D5CDD505-2E9C-101B-9397-08002B2CF9AE}" pid="4" name="KSOProductBuildVer">
    <vt:lpwstr>1033-12.2.0.23196</vt:lpwstr>
  </property>
</Properties>
</file>